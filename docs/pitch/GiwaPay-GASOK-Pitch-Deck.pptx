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1f94c7bd8a14736" /><Relationship Type="http://schemas.openxmlformats.org/officeDocument/2006/relationships/extended-properties" Target="/docProps/app.xml" Id="R8dedb9af52ad4b1e" /><Relationship Type="http://schemas.openxmlformats.org/officeDocument/2006/relationships/officeDocument" Target="/ppt/presentation.xml" Id="Ree8f6b36d25f41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627cedd24b94f65"/>
  </p:sldMasterIdLst>
  <p:notesMasterIdLst>
    <p:notesMasterId xmlns:r="http://schemas.openxmlformats.org/officeDocument/2006/relationships" r:id="Rbd3e3743af4b436e"/>
  </p:notesMasterIdLst>
  <p:sldIdLst>
    <p:sldId xmlns:r="http://schemas.openxmlformats.org/officeDocument/2006/relationships" id="256" r:id="Rceb551953c2942ed"/>
    <p:sldId xmlns:r="http://schemas.openxmlformats.org/officeDocument/2006/relationships" id="257" r:id="Rf2018c63b522450c"/>
    <p:sldId xmlns:r="http://schemas.openxmlformats.org/officeDocument/2006/relationships" id="258" r:id="R115a0d5d3c964881"/>
    <p:sldId xmlns:r="http://schemas.openxmlformats.org/officeDocument/2006/relationships" id="259" r:id="Ree2fa021876b4cdc"/>
    <p:sldId xmlns:r="http://schemas.openxmlformats.org/officeDocument/2006/relationships" id="260" r:id="R04d53b0dced74938"/>
    <p:sldId xmlns:r="http://schemas.openxmlformats.org/officeDocument/2006/relationships" id="261" r:id="R9f1c7ae1372e4d90"/>
    <p:sldId xmlns:r="http://schemas.openxmlformats.org/officeDocument/2006/relationships" id="262" r:id="R9a4e642cde194785"/>
    <p:sldId xmlns:r="http://schemas.openxmlformats.org/officeDocument/2006/relationships" id="263" r:id="Rdfd7319447f2463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c1dfea6fd744a30" /><Relationship Type="http://schemas.openxmlformats.org/officeDocument/2006/relationships/slideMaster" Target="/ppt/slideMasters/slideMaster1.xml" Id="R0627cedd24b94f65" /><Relationship Type="http://schemas.openxmlformats.org/officeDocument/2006/relationships/notesMaster" Target="/ppt/notesMasters/notesMaster1.xml" Id="Rbd3e3743af4b436e" /><Relationship Type="http://schemas.openxmlformats.org/officeDocument/2006/relationships/presProps" Target="/ppt/presProps.xml" Id="R9e7c3b4318e44014" /><Relationship Type="http://schemas.openxmlformats.org/officeDocument/2006/relationships/tableStyles" Target="/ppt/tableStyles.xml" Id="R704bcc960cb54f4a" /><Relationship Type="http://schemas.openxmlformats.org/officeDocument/2006/relationships/slide" Target="/ppt/slides/slide1.xml" Id="Rceb551953c2942ed" /><Relationship Type="http://schemas.openxmlformats.org/officeDocument/2006/relationships/slide" Target="/ppt/slides/slide2.xml" Id="Rf2018c63b522450c" /><Relationship Type="http://schemas.openxmlformats.org/officeDocument/2006/relationships/slide" Target="/ppt/slides/slide3.xml" Id="R115a0d5d3c964881" /><Relationship Type="http://schemas.openxmlformats.org/officeDocument/2006/relationships/slide" Target="/ppt/slides/slide4.xml" Id="Ree2fa021876b4cdc" /><Relationship Type="http://schemas.openxmlformats.org/officeDocument/2006/relationships/slide" Target="/ppt/slides/slide5.xml" Id="R04d53b0dced74938" /><Relationship Type="http://schemas.openxmlformats.org/officeDocument/2006/relationships/slide" Target="/ppt/slides/slide6.xml" Id="R9f1c7ae1372e4d90" /><Relationship Type="http://schemas.openxmlformats.org/officeDocument/2006/relationships/slide" Target="/ppt/slides/slide7.xml" Id="R9a4e642cde194785" /><Relationship Type="http://schemas.openxmlformats.org/officeDocument/2006/relationships/slide" Target="/ppt/slides/slide8.xml" Id="Rdfd7319447f2463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4cf0b70a49d49f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56d3aa090f84c9f" /><Relationship Type="http://schemas.openxmlformats.org/officeDocument/2006/relationships/notesMaster" Target="/ppt/notesMasters/notesMaster1.xml" Id="Rfef08b927b4e48d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5d3d60f41e64367" /><Relationship Type="http://schemas.openxmlformats.org/officeDocument/2006/relationships/notesMaster" Target="/ppt/notesMasters/notesMaster1.xml" Id="Rdbd4c8c13052420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f51360fe8a145df" /><Relationship Type="http://schemas.openxmlformats.org/officeDocument/2006/relationships/notesMaster" Target="/ppt/notesMasters/notesMaster1.xml" Id="Ra764c70a237643f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e2cd47d83c4456a" /><Relationship Type="http://schemas.openxmlformats.org/officeDocument/2006/relationships/notesMaster" Target="/ppt/notesMasters/notesMaster1.xml" Id="Re51acefa958a42f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7e80de096c44537" /><Relationship Type="http://schemas.openxmlformats.org/officeDocument/2006/relationships/notesMaster" Target="/ppt/notesMasters/notesMaster1.xml" Id="R85e0fe3087ac4d6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8a3c43eb5ca4205" /><Relationship Type="http://schemas.openxmlformats.org/officeDocument/2006/relationships/notesMaster" Target="/ppt/notesMasters/notesMaster1.xml" Id="R9b6ef4cebee046c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092f783a86f486c" /><Relationship Type="http://schemas.openxmlformats.org/officeDocument/2006/relationships/notesMaster" Target="/ppt/notesMasters/notesMaster1.xml" Id="Rd3decaf1248940b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aa3af243f264982" /><Relationship Type="http://schemas.openxmlformats.org/officeDocument/2006/relationships/notesMaster" Target="/ppt/notesMasters/notesMaster1.xml" Id="Ra5a532809d0e489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첫 문장은 제품 약속입니다. 동시에 공개 쇼케이스가 비거래형이며, 실제 GIWA 배포를 아직 주장하지 않는다는 경계를 짚습니다.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https://giwapay-mvp.eomyunsig.chatgpt.site</a:t>
            </a:r>
          </a:p>
          <a:p xmlns:a="http://schemas.openxmlformats.org/drawingml/2006/main">
            <a:r>
              <a:t>- https://github.com/eomyunsig-debug/giwapay/blob/main/README.md</a:t>
            </a:r>
          </a:p>
          <a:p xmlns:a="http://schemas.openxmlformats.org/drawingml/2006/main">
            <a:r>
              <a:t>- https://giwa.io/gasok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문제는 결제 자산 선택이 아니라 정확한 정산과 성공 판정입니다. 수탁 없이 이 문제를 해결하려면 실행과 검증을 하나의 제품 흐름으로 묶어야 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https://github.com/eomyunsig-debug/giwapay/blob/main/README.md</a:t>
            </a:r>
          </a:p>
          <a:p xmlns:a="http://schemas.openxmlformats.org/drawingml/2006/main">
            <a:r>
              <a:t>- https://github.com/eomyunsig-debug/giwapay/blob/main/docs/architecture.md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세 단계만 기억하면 됩니다. 판매자가 조건을 서명하고, 고객이 직접 실행하며, 독립 인덱서가 canonical 사실을 확인합니다. 트랜잭션 사이에 GiwaPay 잔액은 없습니다.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https://github.com/eomyunsig-debug/giwapay/blob/main/docs/architecture.md</a:t>
            </a:r>
          </a:p>
          <a:p xmlns:a="http://schemas.openxmlformats.org/drawingml/2006/main">
            <a:r>
              <a:t>- https://github.com/eomyunsig-debug/giwapay/blob/main/README.md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Flashblocks는 제출 체감을 개선할 수 있지만 정산 finality로 사용하지 않습니다. GIWA Wallet은 공식 인터페이스가 공개되기 전까지 제안 경계이며, Dojang과 up.id도 결제 실행과 분리합니다.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https://docs.giwa.io/giwa-chain/en</a:t>
            </a:r>
          </a:p>
          <a:p xmlns:a="http://schemas.openxmlformats.org/drawingml/2006/main">
            <a:r>
              <a:t>- https://docs.giwa.io/giwa-chain/en/get-started/connect-to-giwa</a:t>
            </a:r>
          </a:p>
          <a:p xmlns:a="http://schemas.openxmlformats.org/drawingml/2006/main">
            <a:r>
              <a:t>- https://docs.giwa.io/giwa-chain/en/network-information/transaction-fees</a:t>
            </a:r>
          </a:p>
          <a:p xmlns:a="http://schemas.openxmlformats.org/drawingml/2006/main">
            <a:r>
              <a:t>- https://docs.giwa.io/giwa-chain/en/giwa-ecosystem/dojang</a:t>
            </a:r>
          </a:p>
          <a:p xmlns:a="http://schemas.openxmlformats.org/drawingml/2006/main">
            <a:r>
              <a:t>- https://docs.giwa.io/giwa-chain/en/giwa-ecosystem/giwa-id</a:t>
            </a:r>
          </a:p>
          <a:p xmlns:a="http://schemas.openxmlformats.org/drawingml/2006/main">
            <a:r>
              <a:t>- https://docs.giwa.io/giwa-chain/en/terms-and-policies/testnet-terms-of-use</a:t>
            </a:r>
          </a:p>
          <a:p xmlns:a="http://schemas.openxmlformats.org/drawingml/2006/main">
            <a:r>
              <a:t>- https://github.com/eomyunsig-debug/giwapay/blob/agent/giwa-program-submission/docs/giwa-wallet-embedded-mode.md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왼쪽은 저장소에서 재현 가능한 구현입니다. 오른쪽은 GASOK 제출 전 완료해야 하는 하드 게이트입니다. 테스트 자동화는 외부 감사로 표현하지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https://github.com/eomyunsig-debug/giwapay</a:t>
            </a:r>
          </a:p>
          <a:p xmlns:a="http://schemas.openxmlformats.org/drawingml/2006/main">
            <a:r>
              <a:t>- https://github.com/eomyunsig-debug/giwapay/blob/main/docs/testing.md</a:t>
            </a:r>
          </a:p>
          <a:p xmlns:a="http://schemas.openxmlformats.org/drawingml/2006/main">
            <a:r>
              <a:t>- https://github.com/eomyunsig-debug/giwapay/blob/main/docs/deployment.md</a:t>
            </a:r>
          </a:p>
          <a:p xmlns:a="http://schemas.openxmlformats.org/drawingml/2006/main">
            <a:r>
              <a:t>- https://github.com/eomyunsig-debug/giwapay/actions/runs/30518612814</a:t>
            </a:r>
          </a:p>
          <a:p xmlns:a="http://schemas.openxmlformats.org/drawingml/2006/main">
            <a:r>
              <a:t>- https://sepolia-explorer.giwa.io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1.9621조원은 거시 참고 기준이며 GiwaPay TAM으로 사용하지 않습니다. Low/Base/High는 각각 98,105,000원, 981,050,000원, 3,924,200,000원의 가정 기반 연간 처리액입니다. 0.5% 예시 수수료는 490,525원, 4,905,250원, 19,621,000원입니다. 저장소와 공개 자료에서 검증된 인터뷰·서면 관심·merchant 통합은 모두 0이며, 비공개·오프라인 활동은 신청자가 확인해야 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https://mods.go.kr/boardDownload.es?bid=241&amp;list_no=443337&amp;seq=1</a:t>
            </a:r>
          </a:p>
          <a:p xmlns:a="http://schemas.openxmlformats.org/drawingml/2006/main">
            <a:r>
              <a:t>- https://github.com/eomyunsig-debug/giwapay/blob/agent/giwa-program-submission/docs/market-opportunity.md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순서를 바꾸지 않습니다. 제출 전에는 검증 계약, Phase 3 초반에는 수요와 Wallet 경계, 후반에는 실제 테스트넷 운영과 외부 계약 리뷰를 진행합니다.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https://github.com/eomyunsig-debug/giwapay/blob/agent/giwa-program-submission/docs/market-opportunity.md</a:t>
            </a:r>
          </a:p>
          <a:p xmlns:a="http://schemas.openxmlformats.org/drawingml/2006/main">
            <a:r>
              <a:t>- https://github.com/eomyunsig-debug/giwapay/blob/agent/giwa-program-submission/docs/giwa-wallet-embedded-mode.md</a:t>
            </a:r>
          </a:p>
          <a:p xmlns:a="http://schemas.openxmlformats.org/drawingml/2006/main">
            <a:r>
              <a:t>- https://github.com/eomyunsig-debug/giwapay/blob/main/docs/testing.md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마지막 요청은 세 가지입니다. 검증 배포를 함께 확인하고, 공식 Wallet host 경계를 합의하며, 작은 merchant pilot로 실제 결제 데이터를 만들겠습니다.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https://giwapay-mvp.eomyunsig.chatgpt.site</a:t>
            </a:r>
          </a:p>
          <a:p xmlns:a="http://schemas.openxmlformats.org/drawingml/2006/main">
            <a:r>
              <a:t>- https://github.com/eomyunsig-debug/giwapay</a:t>
            </a:r>
          </a:p>
          <a:p xmlns:a="http://schemas.openxmlformats.org/drawingml/2006/main">
            <a:r>
              <a:t>- https://giwa.io/gasok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bdb3c21ad9444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bcc84bf563c4572" /><Relationship Type="http://schemas.openxmlformats.org/officeDocument/2006/relationships/slideLayout" Target="/ppt/slideLayouts/slideLayout1.xml" Id="R3b101e935577408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b101e935577408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360032cd5f4b27" /><Relationship Type="http://schemas.openxmlformats.org/officeDocument/2006/relationships/image" Target="/ppt/media/image.png" Id="Rc31707f1193a48db" /><Relationship Type="http://schemas.openxmlformats.org/officeDocument/2006/relationships/notesSlide" Target="/ppt/notesSlides/notesSlide1.xml" Id="R04a1420337834c4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5aa4f1a5cd4dd7" /><Relationship Type="http://schemas.openxmlformats.org/officeDocument/2006/relationships/notesSlide" Target="/ppt/notesSlides/notesSlide2.xml" Id="Rfe18a0eeeca94ff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9afa12e5ed4327" /><Relationship Type="http://schemas.openxmlformats.org/officeDocument/2006/relationships/notesSlide" Target="/ppt/notesSlides/notesSlide3.xml" Id="Rb5ba8bf90988463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c031b9db53443c" /><Relationship Type="http://schemas.openxmlformats.org/officeDocument/2006/relationships/notesSlide" Target="/ppt/notesSlides/notesSlide4.xml" Id="Rf15d3af94c6641e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162eebfe2e420c" /><Relationship Type="http://schemas.openxmlformats.org/officeDocument/2006/relationships/notesSlide" Target="/ppt/notesSlides/notesSlide5.xml" Id="R2910cd83bec44df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95766e74b345c0" /><Relationship Type="http://schemas.openxmlformats.org/officeDocument/2006/relationships/notesSlide" Target="/ppt/notesSlides/notesSlide6.xml" Id="R3a7764a3fac9403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40bbc18a164e04" /><Relationship Type="http://schemas.openxmlformats.org/officeDocument/2006/relationships/notesSlide" Target="/ppt/notesSlides/notesSlide7.xml" Id="R8da2ff94ff5844b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16ec761b894ad9" /><Relationship Type="http://schemas.openxmlformats.org/officeDocument/2006/relationships/notesSlide" Target="/ppt/notesSlides/notesSlide8.xml" Id="Rb48315599035419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9ECEAC08-E383-43C0-88E3-B4944E563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rPr>
              <a:t>GASOK · MASS ADOPTION · 2026</a:t>
            </a:r>
          </a:p>
        </p:txBody>
      </p:sp>
      <p:sp>
        <p:nvSpPr>
          <p:cNvPr id="2" name="cover-wordmark">
            <a:extLst xmlns:a="http://schemas.openxmlformats.org/drawingml/2006/main">
              <a:ext uri="{FF2B5EF4-FFF2-40B4-BE49-F238E27FC236}">
                <a16:creationId xmlns:a16="http://schemas.microsoft.com/office/drawing/2014/main" id="{4D6C913F-22EA-4FE1-8235-1E44DA58D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66800"/>
            <a:ext cx="495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5700" b="1">
                <a:solidFill>
                  <a:srgbClr val="070A08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070A08"/>
                </a:solidFill>
                <a:latin typeface="Helvetica Neue"/>
                <a:ea typeface="Helvetica Neue"/>
                <a:cs typeface="Helvetica Neue"/>
              </a:rPr>
              <a:t>GiwaPay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E489364A-33F2-4ABB-8227-D4B76534F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0"/>
            <a:ext cx="51435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360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고객은 지원 자산으로,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360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판매자는 정확한 금액으로.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0ED82B18-937E-437A-B451-0E2B22D6D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38600"/>
            <a:ext cx="514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비수탁 결제 링크 · 원자적 정산 · canonical event 영수증</a:t>
            </a:r>
          </a:p>
        </p:txBody>
      </p:sp>
      <p:sp>
        <p:nvSpPr>
          <p:cNvPr id="5" name="cover-status-bg">
            <a:extLst xmlns:a="http://schemas.openxmlformats.org/drawingml/2006/main">
              <a:ext uri="{FF2B5EF4-FFF2-40B4-BE49-F238E27FC236}">
                <a16:creationId xmlns:a16="http://schemas.microsoft.com/office/drawing/2014/main" id="{8DD840B1-7667-487A-A5FC-481A42384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05400"/>
            <a:ext cx="3486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A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over-status">
            <a:extLst xmlns:a="http://schemas.openxmlformats.org/drawingml/2006/main">
              <a:ext uri="{FF2B5EF4-FFF2-40B4-BE49-F238E27FC236}">
                <a16:creationId xmlns:a16="http://schemas.microsoft.com/office/drawing/2014/main" id="{8D4CE8C0-427A-4322-8559-9542A59D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3181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13D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13D29"/>
                </a:solidFill>
                <a:latin typeface="Apple SD Gothic Neo"/>
                <a:ea typeface="Apple SD Gothic Neo"/>
                <a:cs typeface="Apple SD Gothic Neo"/>
              </a:rPr>
              <a:t>GIWA Sepolia · 테스트넷 MVP</a:t>
            </a:r>
          </a:p>
        </p:txBody>
      </p:sp>
      <p:sp>
        <p:nvSpPr>
          <p:cNvPr id="7" name="cover-boundary">
            <a:extLst xmlns:a="http://schemas.openxmlformats.org/drawingml/2006/main">
              <a:ext uri="{FF2B5EF4-FFF2-40B4-BE49-F238E27FC236}">
                <a16:creationId xmlns:a16="http://schemas.microsoft.com/office/drawing/2014/main" id="{9EE55477-9160-4516-8237-6A2799E7E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9120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공개 쇼케이스는 비거래형입니다. live GIWA 계약은 제출 전 검증이 필요합니다.</a:t>
            </a:r>
          </a:p>
        </p:txBody>
      </p:sp>
      <p:sp>
        <p:nvSpPr>
          <p:cNvPr id="8" name="cover-image-bg">
            <a:extLst xmlns:a="http://schemas.openxmlformats.org/drawingml/2006/main">
              <a:ext uri="{FF2B5EF4-FFF2-40B4-BE49-F238E27FC236}">
                <a16:creationId xmlns:a16="http://schemas.microsoft.com/office/drawing/2014/main" id="{C09C6223-9FC3-43ED-987F-02BA441EE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1950"/>
            <a:ext cx="5543550" cy="575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08"/>
          </a:solidFill>
          <a:ln xmlns:a="http://schemas.openxmlformats.org/drawingml/2006/main" w="9525">
            <a:solidFill>
              <a:srgbClr val="070A08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1707f1193a48db"/>
          <a:stretch xmlns:a="http://schemas.openxmlformats.org/drawingml/2006/main"/>
        </p:blipFill>
        <p:spPr>
          <a:xfrm xmlns:a="http://schemas.openxmlformats.org/drawingml/2006/main">
            <a:off x="6191250" y="1506141"/>
            <a:ext cx="5543550" cy="346471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79893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17E46973-2E89-40CC-87D5-96FF5B36C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277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37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결제보다 어려운 것은 정확한 정산과 증명입니다</a:t>
            </a:r>
          </a:p>
        </p:txBody>
      </p:sp>
      <p:sp>
        <p:nvSpPr>
          <p:cNvPr id="2" name="slide-2-subtitle">
            <a:extLst xmlns:a="http://schemas.openxmlformats.org/drawingml/2006/main">
              <a:ext uri="{FF2B5EF4-FFF2-40B4-BE49-F238E27FC236}">
                <a16:creationId xmlns:a16="http://schemas.microsoft.com/office/drawing/2014/main" id="{D954DEE7-1BA8-465B-8EE8-4422A9C47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11277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판매자의 운영 문제는 지갑 버튼을 추가하는 것만으로 끝나지 않습니다.</a:t>
            </a:r>
          </a:p>
        </p:txBody>
      </p:sp>
      <p:sp>
        <p:nvSpPr>
          <p:cNvPr id="3" name="slide-2-title-rule">
            <a:extLst xmlns:a="http://schemas.openxmlformats.org/drawingml/2006/main">
              <a:ext uri="{FF2B5EF4-FFF2-40B4-BE49-F238E27FC236}">
                <a16:creationId xmlns:a16="http://schemas.microsoft.com/office/drawing/2014/main" id="{1BD65DEF-E3E3-4139-BEA1-DEB31E5D3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EB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blem-left-kicker">
            <a:extLst xmlns:a="http://schemas.openxmlformats.org/drawingml/2006/main">
              <a:ext uri="{FF2B5EF4-FFF2-40B4-BE49-F238E27FC236}">
                <a16:creationId xmlns:a16="http://schemas.microsoft.com/office/drawing/2014/main" id="{08D44BAB-DD86-4333-B6D8-1BBF18C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383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rPr>
              <a:t>ASSET MISMATCH</a:t>
            </a:r>
          </a:p>
        </p:txBody>
      </p:sp>
      <p:sp>
        <p:nvSpPr>
          <p:cNvPr id="5" name="problem-left-message">
            <a:extLst xmlns:a="http://schemas.openxmlformats.org/drawingml/2006/main">
              <a:ext uri="{FF2B5EF4-FFF2-40B4-BE49-F238E27FC236}">
                <a16:creationId xmlns:a16="http://schemas.microsoft.com/office/drawing/2014/main" id="{BF45B311-565B-4FD7-B16C-762DF0CE0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76500"/>
            <a:ext cx="4762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4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4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고객이 보유한 지원 자산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4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4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≠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4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4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판매자가 받을 자산</a:t>
            </a:r>
          </a:p>
        </p:txBody>
      </p:sp>
      <p:sp>
        <p:nvSpPr>
          <p:cNvPr id="6" name="problem-left-consequence">
            <a:extLst xmlns:a="http://schemas.openxmlformats.org/drawingml/2006/main">
              <a:ext uri="{FF2B5EF4-FFF2-40B4-BE49-F238E27FC236}">
                <a16:creationId xmlns:a16="http://schemas.microsoft.com/office/drawing/2014/main" id="{21CBD937-1C10-4BF3-8B5B-1FBD088E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72050"/>
            <a:ext cx="4762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라우팅, 최대 입력액, 수수료, 분할 정산과 미사용 입력 환불을 한 조건으로 묶어야 합니다.</a:t>
            </a:r>
          </a:p>
        </p:txBody>
      </p:sp>
      <p:sp>
        <p:nvSpPr>
          <p:cNvPr id="7" name="problem-vertical-rule">
            <a:extLst xmlns:a="http://schemas.openxmlformats.org/drawingml/2006/main">
              <a:ext uri="{FF2B5EF4-FFF2-40B4-BE49-F238E27FC236}">
                <a16:creationId xmlns:a16="http://schemas.microsoft.com/office/drawing/2014/main" id="{239B05A8-33A4-4126-84E8-BE62F7F7A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66900"/>
            <a:ext cx="9525" cy="401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0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roblem-risk-num-0">
            <a:extLst xmlns:a="http://schemas.openxmlformats.org/drawingml/2006/main">
              <a:ext uri="{FF2B5EF4-FFF2-40B4-BE49-F238E27FC236}">
                <a16:creationId xmlns:a16="http://schemas.microsoft.com/office/drawing/2014/main" id="{36B354A6-91A1-40C4-B157-ED0021724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193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9" name="problem-risk-title-0">
            <a:extLst xmlns:a="http://schemas.openxmlformats.org/drawingml/2006/main">
              <a:ext uri="{FF2B5EF4-FFF2-40B4-BE49-F238E27FC236}">
                <a16:creationId xmlns:a16="http://schemas.microsoft.com/office/drawing/2014/main" id="{154A36B4-7F93-4B5F-9B62-792D5F079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000250"/>
            <a:ext cx="428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해시 제출 ≠ 결제 성공</a:t>
            </a:r>
          </a:p>
        </p:txBody>
      </p:sp>
      <p:sp>
        <p:nvSpPr>
          <p:cNvPr id="10" name="problem-risk-body-0">
            <a:extLst xmlns:a="http://schemas.openxmlformats.org/drawingml/2006/main">
              <a:ext uri="{FF2B5EF4-FFF2-40B4-BE49-F238E27FC236}">
                <a16:creationId xmlns:a16="http://schemas.microsoft.com/office/drawing/2014/main" id="{7C64DB2A-6D97-4FAC-8223-8A30073BC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400300"/>
            <a:ext cx="4286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브라우저 콜백은 canonical 이벤트를 증명하지 못합니다.</a:t>
            </a:r>
          </a:p>
        </p:txBody>
      </p:sp>
      <p:sp>
        <p:nvSpPr>
          <p:cNvPr id="11" name="problem-risk-rule-0">
            <a:extLst xmlns:a="http://schemas.openxmlformats.org/drawingml/2006/main">
              <a:ext uri="{FF2B5EF4-FFF2-40B4-BE49-F238E27FC236}">
                <a16:creationId xmlns:a16="http://schemas.microsoft.com/office/drawing/2014/main" id="{7699AA2C-127B-42E9-9C98-AF20B7A25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086100"/>
            <a:ext cx="4933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EB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roblem-risk-num-1">
            <a:extLst xmlns:a="http://schemas.openxmlformats.org/drawingml/2006/main">
              <a:ext uri="{FF2B5EF4-FFF2-40B4-BE49-F238E27FC236}">
                <a16:creationId xmlns:a16="http://schemas.microsoft.com/office/drawing/2014/main" id="{74686399-5190-4FDD-9B17-7F70AC25B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2766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3" name="problem-risk-title-1">
            <a:extLst xmlns:a="http://schemas.openxmlformats.org/drawingml/2006/main">
              <a:ext uri="{FF2B5EF4-FFF2-40B4-BE49-F238E27FC236}">
                <a16:creationId xmlns:a16="http://schemas.microsoft.com/office/drawing/2014/main" id="{1ECF122C-62D9-4FFC-870E-82DE81A6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257550"/>
            <a:ext cx="428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부분 성공은 정산 실패</a:t>
            </a:r>
          </a:p>
        </p:txBody>
      </p:sp>
      <p:sp>
        <p:nvSpPr>
          <p:cNvPr id="14" name="problem-risk-body-1">
            <a:extLst xmlns:a="http://schemas.openxmlformats.org/drawingml/2006/main">
              <a:ext uri="{FF2B5EF4-FFF2-40B4-BE49-F238E27FC236}">
                <a16:creationId xmlns:a16="http://schemas.microsoft.com/office/drawing/2014/main" id="{F92EF918-057F-4B58-ABA5-99993D8B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57600"/>
            <a:ext cx="4286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교환·수수료·분배·환불이 따로 움직이면 금액이 어긋납니다.</a:t>
            </a:r>
          </a:p>
        </p:txBody>
      </p:sp>
      <p:sp>
        <p:nvSpPr>
          <p:cNvPr id="15" name="problem-risk-rule-1">
            <a:extLst xmlns:a="http://schemas.openxmlformats.org/drawingml/2006/main">
              <a:ext uri="{FF2B5EF4-FFF2-40B4-BE49-F238E27FC236}">
                <a16:creationId xmlns:a16="http://schemas.microsoft.com/office/drawing/2014/main" id="{8EA9DFEB-8BC9-49CA-847A-66B44349E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343400"/>
            <a:ext cx="4933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EB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roblem-risk-num-2">
            <a:extLst xmlns:a="http://schemas.openxmlformats.org/drawingml/2006/main">
              <a:ext uri="{FF2B5EF4-FFF2-40B4-BE49-F238E27FC236}">
                <a16:creationId xmlns:a16="http://schemas.microsoft.com/office/drawing/2014/main" id="{E2108F93-A239-44AC-980F-2C629F6CE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339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7" name="problem-risk-title-2">
            <a:extLst xmlns:a="http://schemas.openxmlformats.org/drawingml/2006/main">
              <a:ext uri="{FF2B5EF4-FFF2-40B4-BE49-F238E27FC236}">
                <a16:creationId xmlns:a16="http://schemas.microsoft.com/office/drawing/2014/main" id="{4585CCAC-2323-4D52-B2CC-C8B3BC1DD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514850"/>
            <a:ext cx="428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수탁 잔액은 부담 확대</a:t>
            </a:r>
          </a:p>
        </p:txBody>
      </p:sp>
      <p:sp>
        <p:nvSpPr>
          <p:cNvPr id="18" name="problem-risk-body-2">
            <a:extLst xmlns:a="http://schemas.openxmlformats.org/drawingml/2006/main">
              <a:ext uri="{FF2B5EF4-FFF2-40B4-BE49-F238E27FC236}">
                <a16:creationId xmlns:a16="http://schemas.microsoft.com/office/drawing/2014/main" id="{4709530B-5B80-4493-BBE1-70AE21200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914900"/>
            <a:ext cx="4286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중간 잔액은 키 관리·운영·규제 경계를 더 복잡하게 만듭니다.</a:t>
            </a:r>
          </a:p>
        </p:txBody>
      </p:sp>
      <p:sp>
        <p:nvSpPr>
          <p:cNvPr id="19" name="footer-label-2">
            <a:extLst xmlns:a="http://schemas.openxmlformats.org/drawingml/2006/main">
              <a:ext uri="{FF2B5EF4-FFF2-40B4-BE49-F238E27FC236}">
                <a16:creationId xmlns:a16="http://schemas.microsoft.com/office/drawing/2014/main" id="{31A21106-BCF4-4786-A70B-42EEAAC4A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627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5F66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661"/>
                </a:solidFill>
                <a:latin typeface="Helvetica Neue"/>
                <a:ea typeface="Helvetica Neue"/>
                <a:cs typeface="Helvetica Neue"/>
              </a:rPr>
              <a:t>GIWAPAY · GASOK</a:t>
            </a:r>
          </a:p>
        </p:txBody>
      </p:sp>
      <p:sp>
        <p:nvSpPr>
          <p:cNvPr id="20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95EBCD80-FF95-4983-BC4C-F5A76CC0D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5F66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661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563609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1CF9C6AD-B09C-49CC-9106-270E05E51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277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37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서명 → 실행 → canonical 검증으로 결제를 증명합니다</a:t>
            </a:r>
          </a:p>
        </p:txBody>
      </p:sp>
      <p:sp>
        <p:nvSpPr>
          <p:cNvPr id="2" name="slide-3-subtitle">
            <a:extLst xmlns:a="http://schemas.openxmlformats.org/drawingml/2006/main">
              <a:ext uri="{FF2B5EF4-FFF2-40B4-BE49-F238E27FC236}">
                <a16:creationId xmlns:a16="http://schemas.microsoft.com/office/drawing/2014/main" id="{EB8E09A2-0FE3-4E91-A35C-EFC769190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11277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성공은 버튼이 아니라 체인 증거가 결정합니다.</a:t>
            </a:r>
          </a:p>
        </p:txBody>
      </p:sp>
      <p:sp>
        <p:nvSpPr>
          <p:cNvPr id="3" name="slide-3-title-rule">
            <a:extLst xmlns:a="http://schemas.openxmlformats.org/drawingml/2006/main">
              <a:ext uri="{FF2B5EF4-FFF2-40B4-BE49-F238E27FC236}">
                <a16:creationId xmlns:a16="http://schemas.microsoft.com/office/drawing/2014/main" id="{0518BFB9-8531-48D1-B605-8E065FCDB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EB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olution-connector-1">
            <a:extLst xmlns:a="http://schemas.openxmlformats.org/drawingml/2006/main">
              <a:ext uri="{FF2B5EF4-FFF2-40B4-BE49-F238E27FC236}">
                <a16:creationId xmlns:a16="http://schemas.microsoft.com/office/drawing/2014/main" id="{6014A84B-C6EB-417F-B184-64FA34BB5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495550"/>
            <a:ext cx="314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EB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olution-connector-2">
            <a:extLst xmlns:a="http://schemas.openxmlformats.org/drawingml/2006/main">
              <a:ext uri="{FF2B5EF4-FFF2-40B4-BE49-F238E27FC236}">
                <a16:creationId xmlns:a16="http://schemas.microsoft.com/office/drawing/2014/main" id="{2209962B-ACF5-4891-AD71-094A8A94B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495550"/>
            <a:ext cx="314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EB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lution-node-0">
            <a:extLst xmlns:a="http://schemas.openxmlformats.org/drawingml/2006/main">
              <a:ext uri="{FF2B5EF4-FFF2-40B4-BE49-F238E27FC236}">
                <a16:creationId xmlns:a16="http://schemas.microsoft.com/office/drawing/2014/main" id="{AD802594-1009-4CE6-9663-0D0EBEAF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2860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0A0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olution-node-number-0">
            <a:extLst xmlns:a="http://schemas.openxmlformats.org/drawingml/2006/main">
              <a:ext uri="{FF2B5EF4-FFF2-40B4-BE49-F238E27FC236}">
                <a16:creationId xmlns:a16="http://schemas.microsoft.com/office/drawing/2014/main" id="{7A49687A-2BF8-45B8-A19C-A7D58BC25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81250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solution-node-1">
            <a:extLst xmlns:a="http://schemas.openxmlformats.org/drawingml/2006/main">
              <a:ext uri="{FF2B5EF4-FFF2-40B4-BE49-F238E27FC236}">
                <a16:creationId xmlns:a16="http://schemas.microsoft.com/office/drawing/2014/main" id="{5F4EF460-6B69-431E-9A4A-27B8BEE00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2860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0A0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olution-node-number-1">
            <a:extLst xmlns:a="http://schemas.openxmlformats.org/drawingml/2006/main">
              <a:ext uri="{FF2B5EF4-FFF2-40B4-BE49-F238E27FC236}">
                <a16:creationId xmlns:a16="http://schemas.microsoft.com/office/drawing/2014/main" id="{EEADE0E8-8AA7-4D74-A11C-89D23B8C6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381250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0" name="solution-node-2">
            <a:extLst xmlns:a="http://schemas.openxmlformats.org/drawingml/2006/main">
              <a:ext uri="{FF2B5EF4-FFF2-40B4-BE49-F238E27FC236}">
                <a16:creationId xmlns:a16="http://schemas.microsoft.com/office/drawing/2014/main" id="{F41B8A20-06D8-4C26-953A-EBB5253F2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2860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F6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olution-node-number-2">
            <a:extLst xmlns:a="http://schemas.openxmlformats.org/drawingml/2006/main">
              <a:ext uri="{FF2B5EF4-FFF2-40B4-BE49-F238E27FC236}">
                <a16:creationId xmlns:a16="http://schemas.microsoft.com/office/drawing/2014/main" id="{8B70A314-D68F-48ED-8782-6CF11CF21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381250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70A0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70A08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2" name="solution-step-title-0">
            <a:extLst xmlns:a="http://schemas.openxmlformats.org/drawingml/2006/main">
              <a:ext uri="{FF2B5EF4-FFF2-40B4-BE49-F238E27FC236}">
                <a16:creationId xmlns:a16="http://schemas.microsoft.com/office/drawing/2014/main" id="{7DC4C20D-3929-49A1-9EF9-BF0337EAD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051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판매자가 조건을 고정</a:t>
            </a:r>
          </a:p>
        </p:txBody>
      </p:sp>
      <p:sp>
        <p:nvSpPr>
          <p:cNvPr id="13" name="solution-step-body-0">
            <a:extLst xmlns:a="http://schemas.openxmlformats.org/drawingml/2006/main">
              <a:ext uri="{FF2B5EF4-FFF2-40B4-BE49-F238E27FC236}">
                <a16:creationId xmlns:a16="http://schemas.microsoft.com/office/drawing/2014/main" id="{00EF7CC6-0B78-45A6-96EA-094553A89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95700"/>
            <a:ext cx="3333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EIP-712 PaymentIntent에 정산 토큰·정확 금액·수령인·수수료·만료·splitHash를 묶습니다.</a:t>
            </a:r>
          </a:p>
        </p:txBody>
      </p:sp>
      <p:sp>
        <p:nvSpPr>
          <p:cNvPr id="14" name="solution-step-title-1">
            <a:extLst xmlns:a="http://schemas.openxmlformats.org/drawingml/2006/main">
              <a:ext uri="{FF2B5EF4-FFF2-40B4-BE49-F238E27FC236}">
                <a16:creationId xmlns:a16="http://schemas.microsoft.com/office/drawing/2014/main" id="{A5D1AB7B-50CD-4EE9-9A28-7838B74BD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051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고객이 직접 실행</a:t>
            </a:r>
          </a:p>
        </p:txBody>
      </p:sp>
      <p:sp>
        <p:nvSpPr>
          <p:cNvPr id="15" name="solution-step-body-1">
            <a:extLst xmlns:a="http://schemas.openxmlformats.org/drawingml/2006/main">
              <a:ext uri="{FF2B5EF4-FFF2-40B4-BE49-F238E27FC236}">
                <a16:creationId xmlns:a16="http://schemas.microsoft.com/office/drawing/2014/main" id="{1A4DBFC6-CC14-4DAA-BC4F-7A7CB4FC3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695700"/>
            <a:ext cx="3333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예상액과 최대 입력액을 확인하고, 필요할 때만 승인한 뒤 PaymentRouter를 호출합니다.</a:t>
            </a:r>
          </a:p>
        </p:txBody>
      </p:sp>
      <p:sp>
        <p:nvSpPr>
          <p:cNvPr id="16" name="solution-step-title-2">
            <a:extLst xmlns:a="http://schemas.openxmlformats.org/drawingml/2006/main">
              <a:ext uri="{FF2B5EF4-FFF2-40B4-BE49-F238E27FC236}">
                <a16:creationId xmlns:a16="http://schemas.microsoft.com/office/drawing/2014/main" id="{B5D0DD8E-B47A-4D1A-BF3E-48FE8FCD9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051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체인이 성공을 판정</a:t>
            </a:r>
          </a:p>
        </p:txBody>
      </p:sp>
      <p:sp>
        <p:nvSpPr>
          <p:cNvPr id="17" name="solution-step-body-2">
            <a:extLst xmlns:a="http://schemas.openxmlformats.org/drawingml/2006/main">
              <a:ext uri="{FF2B5EF4-FFF2-40B4-BE49-F238E27FC236}">
                <a16:creationId xmlns:a16="http://schemas.microsoft.com/office/drawing/2014/main" id="{F421C020-CF70-4E0E-912B-C88CA85DE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95700"/>
            <a:ext cx="3333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인덱서가 canonical 이벤트와 실제 분배를 검증한 뒤에만 영수증과 웹훅을 만듭니다.</a:t>
            </a:r>
          </a:p>
        </p:txBody>
      </p:sp>
      <p:sp>
        <p:nvSpPr>
          <p:cNvPr id="18" name="solution-zero-balance-bg">
            <a:extLst xmlns:a="http://schemas.openxmlformats.org/drawingml/2006/main">
              <a:ext uri="{FF2B5EF4-FFF2-40B4-BE49-F238E27FC236}">
                <a16:creationId xmlns:a16="http://schemas.microsoft.com/office/drawing/2014/main" id="{AE301BA1-FDFD-4081-9F6A-3760FA62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95900"/>
            <a:ext cx="112776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0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olution-zero-balance">
            <a:extLst xmlns:a="http://schemas.openxmlformats.org/drawingml/2006/main">
              <a:ext uri="{FF2B5EF4-FFF2-40B4-BE49-F238E27FC236}">
                <a16:creationId xmlns:a16="http://schemas.microsoft.com/office/drawing/2014/main" id="{3CFE3BA2-F392-4F82-A1A2-544536199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0545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GiwaPay balance = 0  ·  결제·선택적 교환·수수료·분배·잔돈 환불은 모두 실행되거나 모두 되돌아갑니다</a:t>
            </a:r>
          </a:p>
        </p:txBody>
      </p:sp>
      <p:sp>
        <p:nvSpPr>
          <p:cNvPr id="20" name="footer-label-3">
            <a:extLst xmlns:a="http://schemas.openxmlformats.org/drawingml/2006/main">
              <a:ext uri="{FF2B5EF4-FFF2-40B4-BE49-F238E27FC236}">
                <a16:creationId xmlns:a16="http://schemas.microsoft.com/office/drawing/2014/main" id="{B236D70B-B77A-4355-BE76-B8BFFF3EC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627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5F66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661"/>
                </a:solidFill>
                <a:latin typeface="Helvetica Neue"/>
                <a:ea typeface="Helvetica Neue"/>
                <a:cs typeface="Helvetica Neue"/>
              </a:rPr>
              <a:t>GIWAPAY · GASOK</a:t>
            </a:r>
          </a:p>
        </p:txBody>
      </p:sp>
      <p:sp>
        <p:nvSpPr>
          <p:cNvPr id="21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C3400C25-C06D-49E0-8B46-D627B0F16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5F66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661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3726171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5B22144E-A878-49FC-B39E-743A96B02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277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37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GIWA는 빠른 체감과 검증된 정산을 함께 설계하게 합니다</a:t>
            </a:r>
          </a:p>
        </p:txBody>
      </p:sp>
      <p:sp>
        <p:nvSpPr>
          <p:cNvPr id="2" name="slide-4-subtitle">
            <a:extLst xmlns:a="http://schemas.openxmlformats.org/drawingml/2006/main">
              <a:ext uri="{FF2B5EF4-FFF2-40B4-BE49-F238E27FC236}">
                <a16:creationId xmlns:a16="http://schemas.microsoft.com/office/drawing/2014/main" id="{A264FDDA-B61C-4385-88D5-82CEC8AB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11277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현재 기능, 향후 Wallet 표면, 정산의 진실을 분리해 구현합니다.</a:t>
            </a:r>
          </a:p>
        </p:txBody>
      </p:sp>
      <p:sp>
        <p:nvSpPr>
          <p:cNvPr id="3" name="slide-4-title-rule">
            <a:extLst xmlns:a="http://schemas.openxmlformats.org/drawingml/2006/main">
              <a:ext uri="{FF2B5EF4-FFF2-40B4-BE49-F238E27FC236}">
                <a16:creationId xmlns:a16="http://schemas.microsoft.com/office/drawing/2014/main" id="{BCFD5D35-BB9F-4460-BE71-4995AB970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EB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giwa-label-0">
            <a:extLst xmlns:a="http://schemas.openxmlformats.org/drawingml/2006/main">
              <a:ext uri="{FF2B5EF4-FFF2-40B4-BE49-F238E27FC236}">
                <a16:creationId xmlns:a16="http://schemas.microsoft.com/office/drawing/2014/main" id="{D0DD0F25-1304-4EC2-912E-4D58DC0EE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rPr>
              <a:t>PRECONFIRMATION</a:t>
            </a:r>
          </a:p>
        </p:txBody>
      </p:sp>
      <p:sp>
        <p:nvSpPr>
          <p:cNvPr id="5" name="giwa-title-0">
            <a:extLst xmlns:a="http://schemas.openxmlformats.org/drawingml/2006/main">
              <a:ext uri="{FF2B5EF4-FFF2-40B4-BE49-F238E27FC236}">
                <a16:creationId xmlns:a16="http://schemas.microsoft.com/office/drawing/2014/main" id="{4493B7D7-7DB4-4528-91F1-E274FEB53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Flashblocks</a:t>
            </a:r>
          </a:p>
        </p:txBody>
      </p:sp>
      <p:sp>
        <p:nvSpPr>
          <p:cNvPr id="6" name="giwa-rule-0">
            <a:extLst xmlns:a="http://schemas.openxmlformats.org/drawingml/2006/main">
              <a:ext uri="{FF2B5EF4-FFF2-40B4-BE49-F238E27FC236}">
                <a16:creationId xmlns:a16="http://schemas.microsoft.com/office/drawing/2014/main" id="{EAABBCBF-1DAF-437D-9594-BF7DE966B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86100"/>
            <a:ext cx="323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EB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giwa-body-0">
            <a:extLst xmlns:a="http://schemas.openxmlformats.org/drawingml/2006/main">
              <a:ext uri="{FF2B5EF4-FFF2-40B4-BE49-F238E27FC236}">
                <a16:creationId xmlns:a16="http://schemas.microsoft.com/office/drawing/2014/main" id="{9EA86A26-0B5A-41FA-8D28-65B398301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33750"/>
            <a:ext cx="3238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제출 직후 체감 피드백을 빠르게 만들 수 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사전확인이지 finality는 아닙니다.</a:t>
            </a:r>
          </a:p>
        </p:txBody>
      </p:sp>
      <p:sp>
        <p:nvSpPr>
          <p:cNvPr id="8" name="giwa-label-1">
            <a:extLst xmlns:a="http://schemas.openxmlformats.org/drawingml/2006/main">
              <a:ext uri="{FF2B5EF4-FFF2-40B4-BE49-F238E27FC236}">
                <a16:creationId xmlns:a16="http://schemas.microsoft.com/office/drawing/2014/main" id="{6A393E47-1F2D-4D6A-BE62-3A4144B23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9550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rPr>
              <a:t>PAYMENT SURFACE</a:t>
            </a:r>
          </a:p>
        </p:txBody>
      </p:sp>
      <p:sp>
        <p:nvSpPr>
          <p:cNvPr id="9" name="giwa-title-1">
            <a:extLst xmlns:a="http://schemas.openxmlformats.org/drawingml/2006/main">
              <a:ext uri="{FF2B5EF4-FFF2-40B4-BE49-F238E27FC236}">
                <a16:creationId xmlns:a16="http://schemas.microsoft.com/office/drawing/2014/main" id="{6D6EEF6F-A65F-4088-800A-189F5AD2C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5146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GIWA Wallet</a:t>
            </a:r>
          </a:p>
        </p:txBody>
      </p:sp>
      <p:sp>
        <p:nvSpPr>
          <p:cNvPr id="10" name="giwa-rule-1">
            <a:extLst xmlns:a="http://schemas.openxmlformats.org/drawingml/2006/main">
              <a:ext uri="{FF2B5EF4-FFF2-40B4-BE49-F238E27FC236}">
                <a16:creationId xmlns:a16="http://schemas.microsoft.com/office/drawing/2014/main" id="{253BC7DD-BE7F-472E-864C-C306F9B52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086100"/>
            <a:ext cx="323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EB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giwa-body-1">
            <a:extLst xmlns:a="http://schemas.openxmlformats.org/drawingml/2006/main">
              <a:ext uri="{FF2B5EF4-FFF2-40B4-BE49-F238E27FC236}">
                <a16:creationId xmlns:a16="http://schemas.microsoft.com/office/drawing/2014/main" id="{B7140E99-33B6-4594-8F37-35D025800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333750"/>
            <a:ext cx="3238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provider·account·chain handoff로 반복 연결 화면을 줄이는 인앱 결제 경계를 제안합니다.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공식 SDK 전까지 proposal입니다.</a:t>
            </a:r>
          </a:p>
        </p:txBody>
      </p:sp>
      <p:sp>
        <p:nvSpPr>
          <p:cNvPr id="12" name="giwa-label-2">
            <a:extLst xmlns:a="http://schemas.openxmlformats.org/drawingml/2006/main">
              <a:ext uri="{FF2B5EF4-FFF2-40B4-BE49-F238E27FC236}">
                <a16:creationId xmlns:a16="http://schemas.microsoft.com/office/drawing/2014/main" id="{3AB80B17-0E45-45B2-84D4-AAF016CD2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09550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rPr>
              <a:t>TRUST SIGNAL</a:t>
            </a:r>
          </a:p>
        </p:txBody>
      </p:sp>
      <p:sp>
        <p:nvSpPr>
          <p:cNvPr id="13" name="giwa-title-2">
            <a:extLst xmlns:a="http://schemas.openxmlformats.org/drawingml/2006/main">
              <a:ext uri="{FF2B5EF4-FFF2-40B4-BE49-F238E27FC236}">
                <a16:creationId xmlns:a16="http://schemas.microsoft.com/office/drawing/2014/main" id="{FFDB7CEF-B812-4443-9F7E-4FED99343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5146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Dojang · up.id</a:t>
            </a:r>
          </a:p>
        </p:txBody>
      </p:sp>
      <p:sp>
        <p:nvSpPr>
          <p:cNvPr id="14" name="giwa-rule-2">
            <a:extLst xmlns:a="http://schemas.openxmlformats.org/drawingml/2006/main">
              <a:ext uri="{FF2B5EF4-FFF2-40B4-BE49-F238E27FC236}">
                <a16:creationId xmlns:a16="http://schemas.microsoft.com/office/drawing/2014/main" id="{69755760-8EA0-41E7-BA04-B2EE03FB6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86100"/>
            <a:ext cx="323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EB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giwa-body-2">
            <a:extLst xmlns:a="http://schemas.openxmlformats.org/drawingml/2006/main">
              <a:ext uri="{FF2B5EF4-FFF2-40B4-BE49-F238E27FC236}">
                <a16:creationId xmlns:a16="http://schemas.microsoft.com/office/drawing/2014/main" id="{83F437CC-9DAA-47B8-A59C-E557DFB31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333750"/>
            <a:ext cx="3238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결제 실행과 분리된 merchant identity signal로 확장할 수 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파트너십이나 결제 성공을 뜻하지 않습니다.</a:t>
            </a:r>
          </a:p>
        </p:txBody>
      </p:sp>
      <p:sp>
        <p:nvSpPr>
          <p:cNvPr id="16" name="giwa-truth-bg">
            <a:extLst xmlns:a="http://schemas.openxmlformats.org/drawingml/2006/main">
              <a:ext uri="{FF2B5EF4-FFF2-40B4-BE49-F238E27FC236}">
                <a16:creationId xmlns:a16="http://schemas.microsoft.com/office/drawing/2014/main" id="{F5F93D3B-4918-4EA9-97DB-0472B6979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14950"/>
            <a:ext cx="112776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A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giwa-truth">
            <a:extLst xmlns:a="http://schemas.openxmlformats.org/drawingml/2006/main">
              <a:ext uri="{FF2B5EF4-FFF2-40B4-BE49-F238E27FC236}">
                <a16:creationId xmlns:a16="http://schemas.microsoft.com/office/drawing/2014/main" id="{99F3CCF0-5005-4BB6-9171-A3AD9DCC9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13D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13D29"/>
                </a:solidFill>
                <a:latin typeface="Apple SD Gothic Neo"/>
                <a:ea typeface="Apple SD Gothic Neo"/>
                <a:cs typeface="Apple SD Gothic Neo"/>
              </a:rPr>
              <a:t>정산의 진실 = confirmation-aware indexer가 확인한 canonical event</a:t>
            </a:r>
          </a:p>
        </p:txBody>
      </p:sp>
      <p:sp>
        <p:nvSpPr>
          <p:cNvPr id="18" name="footer-label-4">
            <a:extLst xmlns:a="http://schemas.openxmlformats.org/drawingml/2006/main">
              <a:ext uri="{FF2B5EF4-FFF2-40B4-BE49-F238E27FC236}">
                <a16:creationId xmlns:a16="http://schemas.microsoft.com/office/drawing/2014/main" id="{9B660B0A-F7EC-4E26-93B1-16648C3E1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627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5F66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661"/>
                </a:solidFill>
                <a:latin typeface="Helvetica Neue"/>
                <a:ea typeface="Helvetica Neue"/>
                <a:cs typeface="Helvetica Neue"/>
              </a:rPr>
              <a:t>GIWAPAY · GASOK</a:t>
            </a:r>
          </a:p>
        </p:txBody>
      </p:sp>
      <p:sp>
        <p:nvSpPr>
          <p:cNvPr id="19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6A6A503F-B6B0-43B3-98E2-983B65B14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5F66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661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2910151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E9195192-2FFD-486B-B967-E0A1743D0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277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37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구현된 스택과 아직 남은 하드 게이트를 분리했습니다</a:t>
            </a:r>
          </a:p>
        </p:txBody>
      </p:sp>
      <p:sp>
        <p:nvSpPr>
          <p:cNvPr id="2" name="slide-5-subtitle">
            <a:extLst xmlns:a="http://schemas.openxmlformats.org/drawingml/2006/main">
              <a:ext uri="{FF2B5EF4-FFF2-40B4-BE49-F238E27FC236}">
                <a16:creationId xmlns:a16="http://schemas.microsoft.com/office/drawing/2014/main" id="{DF6A585E-AE5D-495F-98BD-F0B39C667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11277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코드의 깊이는 증거로, 미배포 상태는 경계로 보여줍니다.</a:t>
            </a:r>
          </a:p>
        </p:txBody>
      </p:sp>
      <p:sp>
        <p:nvSpPr>
          <p:cNvPr id="3" name="slide-5-title-rule">
            <a:extLst xmlns:a="http://schemas.openxmlformats.org/drawingml/2006/main">
              <a:ext uri="{FF2B5EF4-FFF2-40B4-BE49-F238E27FC236}">
                <a16:creationId xmlns:a16="http://schemas.microsoft.com/office/drawing/2014/main" id="{9304D51C-E7DD-4E46-8F40-DE0688EC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EB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evidence-label">
            <a:extLst xmlns:a="http://schemas.openxmlformats.org/drawingml/2006/main">
              <a:ext uri="{FF2B5EF4-FFF2-40B4-BE49-F238E27FC236}">
                <a16:creationId xmlns:a16="http://schemas.microsoft.com/office/drawing/2014/main" id="{958B66B6-8982-4285-90EB-E90D6ACA7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1930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rPr>
              <a:t>IMPLEMENTED · REPRODUCIBLE</a:t>
            </a:r>
          </a:p>
        </p:txBody>
      </p:sp>
      <p:sp>
        <p:nvSpPr>
          <p:cNvPr id="5" name="evidence-num-0">
            <a:extLst xmlns:a="http://schemas.openxmlformats.org/drawingml/2006/main">
              <a:ext uri="{FF2B5EF4-FFF2-40B4-BE49-F238E27FC236}">
                <a16:creationId xmlns:a16="http://schemas.microsoft.com/office/drawing/2014/main" id="{DF55AA6D-5569-49A1-9398-9511056F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57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6" name="evidence-title-0">
            <a:extLst xmlns:a="http://schemas.openxmlformats.org/drawingml/2006/main">
              <a:ext uri="{FF2B5EF4-FFF2-40B4-BE49-F238E27FC236}">
                <a16:creationId xmlns:a16="http://schemas.microsoft.com/office/drawing/2014/main" id="{B153A69D-5D7E-4623-BF7D-E1DA38EA3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384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Solidity</a:t>
            </a:r>
          </a:p>
        </p:txBody>
      </p:sp>
      <p:sp>
        <p:nvSpPr>
          <p:cNvPr id="7" name="evidence-body-0">
            <a:extLst xmlns:a="http://schemas.openxmlformats.org/drawingml/2006/main">
              <a:ext uri="{FF2B5EF4-FFF2-40B4-BE49-F238E27FC236}">
                <a16:creationId xmlns:a16="http://schemas.microsoft.com/office/drawing/2014/main" id="{718A8726-E6BA-4D56-8B9B-7A7FB9693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457450"/>
            <a:ext cx="449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MerchantRegistry · AdapterRegistry · non-upgradeable PaymentRouter</a:t>
            </a:r>
          </a:p>
        </p:txBody>
      </p:sp>
      <p:sp>
        <p:nvSpPr>
          <p:cNvPr id="8" name="evidence-row-rule-0">
            <a:extLst xmlns:a="http://schemas.openxmlformats.org/drawingml/2006/main">
              <a:ext uri="{FF2B5EF4-FFF2-40B4-BE49-F238E27FC236}">
                <a16:creationId xmlns:a16="http://schemas.microsoft.com/office/drawing/2014/main" id="{ED1CB3F2-3968-41FC-82F8-63F7FE099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09900"/>
            <a:ext cx="6686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EB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evidence-num-1">
            <a:extLst xmlns:a="http://schemas.openxmlformats.org/drawingml/2006/main">
              <a:ext uri="{FF2B5EF4-FFF2-40B4-BE49-F238E27FC236}">
                <a16:creationId xmlns:a16="http://schemas.microsoft.com/office/drawing/2014/main" id="{01AE84B5-0718-4F7B-8F01-6146F20B9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813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0" name="evidence-title-1">
            <a:extLst xmlns:a="http://schemas.openxmlformats.org/drawingml/2006/main">
              <a:ext uri="{FF2B5EF4-FFF2-40B4-BE49-F238E27FC236}">
                <a16:creationId xmlns:a16="http://schemas.microsoft.com/office/drawing/2014/main" id="{1A198F1D-4D08-4FBC-9BFA-68E4A9041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623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Application</a:t>
            </a:r>
          </a:p>
        </p:txBody>
      </p:sp>
      <p:sp>
        <p:nvSpPr>
          <p:cNvPr id="11" name="evidence-body-1">
            <a:extLst xmlns:a="http://schemas.openxmlformats.org/drawingml/2006/main">
              <a:ext uri="{FF2B5EF4-FFF2-40B4-BE49-F238E27FC236}">
                <a16:creationId xmlns:a16="http://schemas.microsoft.com/office/drawing/2014/main" id="{451C640A-BE13-449A-BB9F-D211466BB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181350"/>
            <a:ext cx="449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Fastify API · EIP-712 · SIWE/ERC-1271 · PostgreSQL</a:t>
            </a:r>
          </a:p>
        </p:txBody>
      </p:sp>
      <p:sp>
        <p:nvSpPr>
          <p:cNvPr id="12" name="evidence-row-rule-1">
            <a:extLst xmlns:a="http://schemas.openxmlformats.org/drawingml/2006/main">
              <a:ext uri="{FF2B5EF4-FFF2-40B4-BE49-F238E27FC236}">
                <a16:creationId xmlns:a16="http://schemas.microsoft.com/office/drawing/2014/main" id="{CAF5099C-A8E7-4B33-8722-DA6C6341E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33800"/>
            <a:ext cx="6686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EB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evidence-num-2">
            <a:extLst xmlns:a="http://schemas.openxmlformats.org/drawingml/2006/main">
              <a:ext uri="{FF2B5EF4-FFF2-40B4-BE49-F238E27FC236}">
                <a16:creationId xmlns:a16="http://schemas.microsoft.com/office/drawing/2014/main" id="{A43FD8E6-F2A6-411F-845D-6B828CE7B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052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4" name="evidence-title-2">
            <a:extLst xmlns:a="http://schemas.openxmlformats.org/drawingml/2006/main">
              <a:ext uri="{FF2B5EF4-FFF2-40B4-BE49-F238E27FC236}">
                <a16:creationId xmlns:a16="http://schemas.microsoft.com/office/drawing/2014/main" id="{957A43DC-D7F5-4272-B1A6-810CF59A8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8862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Truth layer</a:t>
            </a:r>
          </a:p>
        </p:txBody>
      </p:sp>
      <p:sp>
        <p:nvSpPr>
          <p:cNvPr id="15" name="evidence-body-2">
            <a:extLst xmlns:a="http://schemas.openxmlformats.org/drawingml/2006/main">
              <a:ext uri="{FF2B5EF4-FFF2-40B4-BE49-F238E27FC236}">
                <a16:creationId xmlns:a16="http://schemas.microsoft.com/office/drawing/2014/main" id="{F76762F5-F6F5-432B-8D63-6626E7CD2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905250"/>
            <a:ext cx="449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confirmation-aware indexer · reorg rollback · verified split snapshot</a:t>
            </a:r>
          </a:p>
        </p:txBody>
      </p:sp>
      <p:sp>
        <p:nvSpPr>
          <p:cNvPr id="16" name="evidence-row-rule-2">
            <a:extLst xmlns:a="http://schemas.openxmlformats.org/drawingml/2006/main">
              <a:ext uri="{FF2B5EF4-FFF2-40B4-BE49-F238E27FC236}">
                <a16:creationId xmlns:a16="http://schemas.microsoft.com/office/drawing/2014/main" id="{552CD271-5F48-4DB6-BC08-66797FA27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57700"/>
            <a:ext cx="6686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EB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evidence-num-3">
            <a:extLst xmlns:a="http://schemas.openxmlformats.org/drawingml/2006/main">
              <a:ext uri="{FF2B5EF4-FFF2-40B4-BE49-F238E27FC236}">
                <a16:creationId xmlns:a16="http://schemas.microsoft.com/office/drawing/2014/main" id="{0CF6E665-285C-4D17-9D09-E945A0329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29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8" name="evidence-title-3">
            <a:extLst xmlns:a="http://schemas.openxmlformats.org/drawingml/2006/main">
              <a:ext uri="{FF2B5EF4-FFF2-40B4-BE49-F238E27FC236}">
                <a16:creationId xmlns:a16="http://schemas.microsoft.com/office/drawing/2014/main" id="{73657AA8-D47E-454F-B93D-E8D450BB1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101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Product &amp; QA</a:t>
            </a:r>
          </a:p>
        </p:txBody>
      </p:sp>
      <p:sp>
        <p:nvSpPr>
          <p:cNvPr id="19" name="evidence-body-3">
            <a:extLst xmlns:a="http://schemas.openxmlformats.org/drawingml/2006/main">
              <a:ext uri="{FF2B5EF4-FFF2-40B4-BE49-F238E27FC236}">
                <a16:creationId xmlns:a16="http://schemas.microsoft.com/office/drawing/2014/main" id="{DCAC02B6-D9CF-4CD9-80C0-FFED47601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629150"/>
            <a:ext cx="449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checkout · dashboard · SDK · 4 green CI jobs · 44 Foundry total (5 invariant)</a:t>
            </a:r>
          </a:p>
        </p:txBody>
      </p:sp>
      <p:sp>
        <p:nvSpPr>
          <p:cNvPr id="20" name="hard-gate-panel">
            <a:extLst xmlns:a="http://schemas.openxmlformats.org/drawingml/2006/main">
              <a:ext uri="{FF2B5EF4-FFF2-40B4-BE49-F238E27FC236}">
                <a16:creationId xmlns:a16="http://schemas.microsoft.com/office/drawing/2014/main" id="{A85E62D6-FCC3-443E-84E9-741BCDBB0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943100"/>
            <a:ext cx="4171950" cy="3790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0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hard-gate-kicker">
            <a:extLst xmlns:a="http://schemas.openxmlformats.org/drawingml/2006/main">
              <a:ext uri="{FF2B5EF4-FFF2-40B4-BE49-F238E27FC236}">
                <a16:creationId xmlns:a16="http://schemas.microsoft.com/office/drawing/2014/main" id="{EAB5498A-7D35-436B-AA8E-B7ECA8107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247900"/>
            <a:ext cx="3600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7CF6B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7CF6B1"/>
                </a:solidFill>
                <a:latin typeface="Helvetica Neue"/>
                <a:ea typeface="Helvetica Neue"/>
                <a:cs typeface="Helvetica Neue"/>
              </a:rPr>
              <a:t>PENDING HARD GATE</a:t>
            </a:r>
          </a:p>
        </p:txBody>
      </p:sp>
      <p:sp>
        <p:nvSpPr>
          <p:cNvPr id="22" name="hard-gate-title">
            <a:extLst xmlns:a="http://schemas.openxmlformats.org/drawingml/2006/main">
              <a:ext uri="{FF2B5EF4-FFF2-40B4-BE49-F238E27FC236}">
                <a16:creationId xmlns:a16="http://schemas.microsoft.com/office/drawing/2014/main" id="{5BEE5E0C-AE0E-4018-B554-2BA6BB3C5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24150"/>
            <a:ext cx="36004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0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검증된 GIWA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0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테스트넷 계약</a:t>
            </a:r>
          </a:p>
        </p:txBody>
      </p:sp>
      <p:sp>
        <p:nvSpPr>
          <p:cNvPr id="23" name="hard-gate-body">
            <a:extLst xmlns:a="http://schemas.openxmlformats.org/drawingml/2006/main">
              <a:ext uri="{FF2B5EF4-FFF2-40B4-BE49-F238E27FC236}">
                <a16:creationId xmlns:a16="http://schemas.microsoft.com/office/drawing/2014/main" id="{2A2E66D3-69DE-4991-AB1E-0D07E099A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00500"/>
            <a:ext cx="36004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650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1. production-mode 배포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650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2. GIWA Explorer 소스 검증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650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3. 주소·tx·commit 공개 manifest</a:t>
            </a:r>
          </a:p>
        </p:txBody>
      </p:sp>
      <p:sp>
        <p:nvSpPr>
          <p:cNvPr id="24" name="hard-gate-disclaimer">
            <a:extLst xmlns:a="http://schemas.openxmlformats.org/drawingml/2006/main">
              <a:ext uri="{FF2B5EF4-FFF2-40B4-BE49-F238E27FC236}">
                <a16:creationId xmlns:a16="http://schemas.microsoft.com/office/drawing/2014/main" id="{F7C19226-F18F-4321-AA6B-4C2329566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219700"/>
            <a:ext cx="3486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4E8E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E4E8E5"/>
                </a:solidFill>
                <a:latin typeface="Apple SD Gothic Neo"/>
                <a:ea typeface="Apple SD Gothic Neo"/>
                <a:cs typeface="Apple SD Gothic Neo"/>
              </a:rPr>
              <a:t>현재 live 주소·공식 Wallet 연동·외부 보안감사는 주장하지 않습니다.</a:t>
            </a:r>
          </a:p>
        </p:txBody>
      </p:sp>
      <p:sp>
        <p:nvSpPr>
          <p:cNvPr id="25" name="footer-label-5">
            <a:extLst xmlns:a="http://schemas.openxmlformats.org/drawingml/2006/main">
              <a:ext uri="{FF2B5EF4-FFF2-40B4-BE49-F238E27FC236}">
                <a16:creationId xmlns:a16="http://schemas.microsoft.com/office/drawing/2014/main" id="{DDDC28C8-DA1B-4E19-9B44-5B073120A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627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5F66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661"/>
                </a:solidFill>
                <a:latin typeface="Helvetica Neue"/>
                <a:ea typeface="Helvetica Neue"/>
                <a:cs typeface="Helvetica Neue"/>
              </a:rPr>
              <a:t>GIWAPAY · GASOK</a:t>
            </a:r>
          </a:p>
        </p:txBody>
      </p:sp>
      <p:sp>
        <p:nvSpPr>
          <p:cNvPr id="26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A90CD05A-3455-4032-A703-583F3D3C1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5F66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661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189894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6C818DB7-0470-499B-A109-260D58DCC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277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37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시장 가정은 범위로, 공개 확인 실적은 별도로 표시합니다</a:t>
            </a:r>
          </a:p>
        </p:txBody>
      </p:sp>
      <p:sp>
        <p:nvSpPr>
          <p:cNvPr id="2" name="slide-6-subtitle">
            <a:extLst xmlns:a="http://schemas.openxmlformats.org/drawingml/2006/main">
              <a:ext uri="{FF2B5EF4-FFF2-40B4-BE49-F238E27FC236}">
                <a16:creationId xmlns:a16="http://schemas.microsoft.com/office/drawing/2014/main" id="{54BD1B19-EAFF-4B0E-8E6A-502FB2D7F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11277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참고 시장, 가정 기반 처리액, 현재 증거를 같은 숫자로 섞지 않습니다.</a:t>
            </a:r>
          </a:p>
        </p:txBody>
      </p:sp>
      <p:sp>
        <p:nvSpPr>
          <p:cNvPr id="3" name="slide-6-title-rule">
            <a:extLst xmlns:a="http://schemas.openxmlformats.org/drawingml/2006/main">
              <a:ext uri="{FF2B5EF4-FFF2-40B4-BE49-F238E27FC236}">
                <a16:creationId xmlns:a16="http://schemas.microsoft.com/office/drawing/2014/main" id="{89417F13-E652-40C7-AD28-193638BFC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EB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market-reference">
            <a:extLst xmlns:a="http://schemas.openxmlformats.org/drawingml/2006/main">
              <a:ext uri="{FF2B5EF4-FFF2-40B4-BE49-F238E27FC236}">
                <a16:creationId xmlns:a16="http://schemas.microsoft.com/office/drawing/2014/main" id="{0B03D70E-B634-4F82-A955-C69F3B26E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4785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2025 비면세 온라인 해외직접판매 1.9621조원은 넓은 참고 기준일 뿐,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GiwaPay의 TAM·획득 가능 시장·현재 GMV가 아닙니다.</a:t>
            </a:r>
          </a:p>
        </p:txBody>
      </p:sp>
      <p:sp>
        <p:nvSpPr>
          <p:cNvPr id="5" name="market-panel-0">
            <a:extLst xmlns:a="http://schemas.openxmlformats.org/drawingml/2006/main">
              <a:ext uri="{FF2B5EF4-FFF2-40B4-BE49-F238E27FC236}">
                <a16:creationId xmlns:a16="http://schemas.microsoft.com/office/drawing/2014/main" id="{AE7160A0-83FD-4D6D-9C1D-C119368D6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0"/>
            <a:ext cx="346710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market-stat-0">
            <a:extLst xmlns:a="http://schemas.openxmlformats.org/drawingml/2006/main">
              <a:ext uri="{FF2B5EF4-FFF2-40B4-BE49-F238E27FC236}">
                <a16:creationId xmlns:a16="http://schemas.microsoft.com/office/drawing/2014/main" id="{DB60CBD6-A3E9-467E-9609-5742B74F4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3009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3900" b="1">
                <a:solidFill>
                  <a:srgbClr val="070A0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070A08"/>
                </a:solidFill>
                <a:latin typeface="Helvetica Neue"/>
                <a:ea typeface="Helvetica Neue"/>
                <a:cs typeface="Helvetica Neue"/>
              </a:rPr>
              <a:t>0.981억</a:t>
            </a:r>
          </a:p>
        </p:txBody>
      </p:sp>
      <p:sp>
        <p:nvSpPr>
          <p:cNvPr id="7" name="market-title-0">
            <a:extLst xmlns:a="http://schemas.openxmlformats.org/drawingml/2006/main">
              <a:ext uri="{FF2B5EF4-FFF2-40B4-BE49-F238E27FC236}">
                <a16:creationId xmlns:a16="http://schemas.microsoft.com/office/drawing/2014/main" id="{18F60893-3F8F-4CD5-9C17-A93E68D3D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LOW · 연간 처리액</a:t>
            </a:r>
          </a:p>
        </p:txBody>
      </p:sp>
      <p:sp>
        <p:nvSpPr>
          <p:cNvPr id="8" name="market-body-0">
            <a:extLst xmlns:a="http://schemas.openxmlformats.org/drawingml/2006/main">
              <a:ext uri="{FF2B5EF4-FFF2-40B4-BE49-F238E27FC236}">
                <a16:creationId xmlns:a16="http://schemas.microsoft.com/office/drawing/2014/main" id="{BB6AAE8A-1F18-4419-AB60-8C75C131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3009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0.5% 예시 수수료 49만원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적격 0.1% × checkout 5%</a:t>
            </a:r>
          </a:p>
        </p:txBody>
      </p:sp>
      <p:sp>
        <p:nvSpPr>
          <p:cNvPr id="9" name="market-panel-1">
            <a:extLst xmlns:a="http://schemas.openxmlformats.org/drawingml/2006/main">
              <a:ext uri="{FF2B5EF4-FFF2-40B4-BE49-F238E27FC236}">
                <a16:creationId xmlns:a16="http://schemas.microsoft.com/office/drawing/2014/main" id="{EE97E484-75DB-4F31-9C8A-8D03065A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952750"/>
            <a:ext cx="346710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A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market-stat-1">
            <a:extLst xmlns:a="http://schemas.openxmlformats.org/drawingml/2006/main">
              <a:ext uri="{FF2B5EF4-FFF2-40B4-BE49-F238E27FC236}">
                <a16:creationId xmlns:a16="http://schemas.microsoft.com/office/drawing/2014/main" id="{833B315C-E2CB-4154-9702-03854C5F2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181350"/>
            <a:ext cx="3009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3900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rPr>
              <a:t>9.811억</a:t>
            </a:r>
          </a:p>
        </p:txBody>
      </p:sp>
      <p:sp>
        <p:nvSpPr>
          <p:cNvPr id="11" name="market-title-1">
            <a:extLst xmlns:a="http://schemas.openxmlformats.org/drawingml/2006/main">
              <a:ext uri="{FF2B5EF4-FFF2-40B4-BE49-F238E27FC236}">
                <a16:creationId xmlns:a16="http://schemas.microsoft.com/office/drawing/2014/main" id="{D95AB2C7-B087-48B4-9E9D-B6A688D5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171950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BASE · 연간 처리액</a:t>
            </a:r>
          </a:p>
        </p:txBody>
      </p:sp>
      <p:sp>
        <p:nvSpPr>
          <p:cNvPr id="12" name="market-body-1">
            <a:extLst xmlns:a="http://schemas.openxmlformats.org/drawingml/2006/main">
              <a:ext uri="{FF2B5EF4-FFF2-40B4-BE49-F238E27FC236}">
                <a16:creationId xmlns:a16="http://schemas.microsoft.com/office/drawing/2014/main" id="{75958911-E4C9-40C8-9BB7-4C8F9BD65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667250"/>
            <a:ext cx="3009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0.5% 예시 수수료 491만원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적격 0.5% × checkout 10%</a:t>
            </a:r>
          </a:p>
        </p:txBody>
      </p:sp>
      <p:sp>
        <p:nvSpPr>
          <p:cNvPr id="13" name="market-panel-2">
            <a:extLst xmlns:a="http://schemas.openxmlformats.org/drawingml/2006/main">
              <a:ext uri="{FF2B5EF4-FFF2-40B4-BE49-F238E27FC236}">
                <a16:creationId xmlns:a16="http://schemas.microsoft.com/office/drawing/2014/main" id="{0A29C6BD-7908-4842-A047-E965ABA94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952750"/>
            <a:ext cx="346710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market-stat-2">
            <a:extLst xmlns:a="http://schemas.openxmlformats.org/drawingml/2006/main">
              <a:ext uri="{FF2B5EF4-FFF2-40B4-BE49-F238E27FC236}">
                <a16:creationId xmlns:a16="http://schemas.microsoft.com/office/drawing/2014/main" id="{36258E96-EA35-477A-B57D-C1A6414F2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81350"/>
            <a:ext cx="3009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3900" b="1">
                <a:solidFill>
                  <a:srgbClr val="070A0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070A08"/>
                </a:solidFill>
                <a:latin typeface="Helvetica Neue"/>
                <a:ea typeface="Helvetica Neue"/>
                <a:cs typeface="Helvetica Neue"/>
              </a:rPr>
              <a:t>39.24억</a:t>
            </a:r>
          </a:p>
        </p:txBody>
      </p:sp>
      <p:sp>
        <p:nvSpPr>
          <p:cNvPr id="15" name="market-title-2">
            <a:extLst xmlns:a="http://schemas.openxmlformats.org/drawingml/2006/main">
              <a:ext uri="{FF2B5EF4-FFF2-40B4-BE49-F238E27FC236}">
                <a16:creationId xmlns:a16="http://schemas.microsoft.com/office/drawing/2014/main" id="{93F3297C-425D-47FD-A72D-80C57E20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171950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HIGH · 연간 처리액</a:t>
            </a:r>
          </a:p>
        </p:txBody>
      </p:sp>
      <p:sp>
        <p:nvSpPr>
          <p:cNvPr id="16" name="market-body-2">
            <a:extLst xmlns:a="http://schemas.openxmlformats.org/drawingml/2006/main">
              <a:ext uri="{FF2B5EF4-FFF2-40B4-BE49-F238E27FC236}">
                <a16:creationId xmlns:a16="http://schemas.microsoft.com/office/drawing/2014/main" id="{B6309FFE-0575-4E61-8DC3-8959A2943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667250"/>
            <a:ext cx="3009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0.5% 예시 수수료 1,962만원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적격 1.0% × checkout 20%</a:t>
            </a:r>
          </a:p>
        </p:txBody>
      </p:sp>
      <p:sp>
        <p:nvSpPr>
          <p:cNvPr id="17" name="market-zero">
            <a:extLst xmlns:a="http://schemas.openxmlformats.org/drawingml/2006/main">
              <a:ext uri="{FF2B5EF4-FFF2-40B4-BE49-F238E27FC236}">
                <a16:creationId xmlns:a16="http://schemas.microsoft.com/office/drawing/2014/main" id="{47E3B717-B945-4E61-8B08-345ADAFED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19750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B4530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B45309"/>
                </a:solidFill>
                <a:latin typeface="Apple SD Gothic Neo"/>
                <a:ea typeface="Apple SD Gothic Neo"/>
                <a:cs typeface="Apple SD Gothic Neo"/>
              </a:rPr>
              <a:t>공개 확인 실적: 인터뷰 0 · 서면 관심 0 · merchant 통합 0  /  비공개·오프라인 활동은 신청자 확인 필요</a:t>
            </a:r>
          </a:p>
        </p:txBody>
      </p:sp>
      <p:sp>
        <p:nvSpPr>
          <p:cNvPr id="18" name="footer-label-6">
            <a:extLst xmlns:a="http://schemas.openxmlformats.org/drawingml/2006/main">
              <a:ext uri="{FF2B5EF4-FFF2-40B4-BE49-F238E27FC236}">
                <a16:creationId xmlns:a16="http://schemas.microsoft.com/office/drawing/2014/main" id="{9F6CCE0B-42A8-4B9C-9847-4FF4DAB42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627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5F66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661"/>
                </a:solidFill>
                <a:latin typeface="Helvetica Neue"/>
                <a:ea typeface="Helvetica Neue"/>
                <a:cs typeface="Helvetica Neue"/>
              </a:rPr>
              <a:t>GIWAPAY · GASOK</a:t>
            </a:r>
          </a:p>
        </p:txBody>
      </p:sp>
      <p:sp>
        <p:nvSpPr>
          <p:cNvPr id="19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8A72F9A9-42F1-40C8-BAA4-8D0198F9D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5F66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661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379906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E7E21E0F-0FA8-4107-BB4D-D52D8ACAB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277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37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8주 뒤에는 결정 가능한 결제 데이터를 냅니다</a:t>
            </a:r>
          </a:p>
        </p:txBody>
      </p:sp>
      <p:sp>
        <p:nvSpPr>
          <p:cNvPr id="2" name="slide-7-subtitle">
            <a:extLst xmlns:a="http://schemas.openxmlformats.org/drawingml/2006/main">
              <a:ext uri="{FF2B5EF4-FFF2-40B4-BE49-F238E27FC236}">
                <a16:creationId xmlns:a16="http://schemas.microsoft.com/office/drawing/2014/main" id="{D3EC8ADD-2A71-4B56-A0A3-48941DC6B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11277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먼저 배포 증거, 다음으로 수요와 Wallet 경계, 마지막으로 파일럿과 보안 검토입니다.</a:t>
            </a:r>
          </a:p>
        </p:txBody>
      </p:sp>
      <p:sp>
        <p:nvSpPr>
          <p:cNvPr id="3" name="slide-7-title-rule">
            <a:extLst xmlns:a="http://schemas.openxmlformats.org/drawingml/2006/main">
              <a:ext uri="{FF2B5EF4-FFF2-40B4-BE49-F238E27FC236}">
                <a16:creationId xmlns:a16="http://schemas.microsoft.com/office/drawing/2014/main" id="{2228140F-1B08-4ED2-A8ED-62CBC1087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EB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roadmap-line">
            <a:extLst xmlns:a="http://schemas.openxmlformats.org/drawingml/2006/main">
              <a:ext uri="{FF2B5EF4-FFF2-40B4-BE49-F238E27FC236}">
                <a16:creationId xmlns:a16="http://schemas.microsoft.com/office/drawing/2014/main" id="{24C2BF5F-447A-4DB3-8E04-C3AD3C9E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00350"/>
            <a:ext cx="971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0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roadmap-node-0">
            <a:extLst xmlns:a="http://schemas.openxmlformats.org/drawingml/2006/main">
              <a:ext uri="{FF2B5EF4-FFF2-40B4-BE49-F238E27FC236}">
                <a16:creationId xmlns:a16="http://schemas.microsoft.com/office/drawing/2014/main" id="{22F6773F-1242-41F9-8296-D228E43E5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7241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F6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roadmap-node-1">
            <a:extLst xmlns:a="http://schemas.openxmlformats.org/drawingml/2006/main">
              <a:ext uri="{FF2B5EF4-FFF2-40B4-BE49-F238E27FC236}">
                <a16:creationId xmlns:a16="http://schemas.microsoft.com/office/drawing/2014/main" id="{C28C5A1E-4D5D-4FEC-8D7B-A8A732C1D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27241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0A0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oadmap-node-2">
            <a:extLst xmlns:a="http://schemas.openxmlformats.org/drawingml/2006/main">
              <a:ext uri="{FF2B5EF4-FFF2-40B4-BE49-F238E27FC236}">
                <a16:creationId xmlns:a16="http://schemas.microsoft.com/office/drawing/2014/main" id="{67A0D888-DA14-46B2-9EA0-3E5B40779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27241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0A0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roadmap-label-0">
            <a:extLst xmlns:a="http://schemas.openxmlformats.org/drawingml/2006/main">
              <a:ext uri="{FF2B5EF4-FFF2-40B4-BE49-F238E27FC236}">
                <a16:creationId xmlns:a16="http://schemas.microsoft.com/office/drawing/2014/main" id="{F0B686B4-8A00-4A10-AAF2-C401486AA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rPr>
              <a:t>NOW · SUBMISSION GATE</a:t>
            </a:r>
          </a:p>
        </p:txBody>
      </p:sp>
      <p:sp>
        <p:nvSpPr>
          <p:cNvPr id="9" name="roadmap-title-0">
            <a:extLst xmlns:a="http://schemas.openxmlformats.org/drawingml/2006/main">
              <a:ext uri="{FF2B5EF4-FFF2-40B4-BE49-F238E27FC236}">
                <a16:creationId xmlns:a16="http://schemas.microsoft.com/office/drawing/2014/main" id="{456A80C0-44E2-4941-9117-7BADE57F1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검증 계약</a:t>
            </a:r>
          </a:p>
        </p:txBody>
      </p:sp>
      <p:sp>
        <p:nvSpPr>
          <p:cNvPr id="10" name="roadmap-body-0">
            <a:extLst xmlns:a="http://schemas.openxmlformats.org/drawingml/2006/main">
              <a:ext uri="{FF2B5EF4-FFF2-40B4-BE49-F238E27FC236}">
                <a16:creationId xmlns:a16="http://schemas.microsoft.com/office/drawing/2014/main" id="{6D583004-F3EC-45CD-862B-222635318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71900"/>
            <a:ext cx="33337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GIWA Sepolia 배포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Explorer 소스 검증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public manifest</a:t>
            </a:r>
          </a:p>
        </p:txBody>
      </p:sp>
      <p:sp>
        <p:nvSpPr>
          <p:cNvPr id="11" name="roadmap-label-1">
            <a:extLst xmlns:a="http://schemas.openxmlformats.org/drawingml/2006/main">
              <a:ext uri="{FF2B5EF4-FFF2-40B4-BE49-F238E27FC236}">
                <a16:creationId xmlns:a16="http://schemas.microsoft.com/office/drawing/2014/main" id="{5C2F977A-679D-4BC7-9529-5CFEF2BE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0955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rPr>
              <a:t>WEEK 1–2</a:t>
            </a:r>
          </a:p>
        </p:txBody>
      </p:sp>
      <p:sp>
        <p:nvSpPr>
          <p:cNvPr id="12" name="roadmap-title-1">
            <a:extLst xmlns:a="http://schemas.openxmlformats.org/drawingml/2006/main">
              <a:ext uri="{FF2B5EF4-FFF2-40B4-BE49-F238E27FC236}">
                <a16:creationId xmlns:a16="http://schemas.microsoft.com/office/drawing/2014/main" id="{1AB88D8F-9F13-4ABA-9030-D3C0DDF8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004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수요 · Wallet 경계</a:t>
            </a:r>
          </a:p>
        </p:txBody>
      </p:sp>
      <p:sp>
        <p:nvSpPr>
          <p:cNvPr id="13" name="roadmap-body-1">
            <a:extLst xmlns:a="http://schemas.openxmlformats.org/drawingml/2006/main">
              <a:ext uri="{FF2B5EF4-FFF2-40B4-BE49-F238E27FC236}">
                <a16:creationId xmlns:a16="http://schemas.microsoft.com/office/drawing/2014/main" id="{7527C268-3950-48A8-941B-CEC4B9891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71900"/>
            <a:ext cx="33337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15 interviews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3 written interests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official host contract 논의</a:t>
            </a:r>
          </a:p>
        </p:txBody>
      </p:sp>
      <p:sp>
        <p:nvSpPr>
          <p:cNvPr id="14" name="roadmap-label-2">
            <a:extLst xmlns:a="http://schemas.openxmlformats.org/drawingml/2006/main">
              <a:ext uri="{FF2B5EF4-FFF2-40B4-BE49-F238E27FC236}">
                <a16:creationId xmlns:a16="http://schemas.microsoft.com/office/drawing/2014/main" id="{E8E2C659-F9D3-4FC3-A5D7-E81AB2574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955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rPr>
              <a:t>WEEK 3–8</a:t>
            </a:r>
          </a:p>
        </p:txBody>
      </p:sp>
      <p:sp>
        <p:nvSpPr>
          <p:cNvPr id="15" name="roadmap-title-2">
            <a:extLst xmlns:a="http://schemas.openxmlformats.org/drawingml/2006/main">
              <a:ext uri="{FF2B5EF4-FFF2-40B4-BE49-F238E27FC236}">
                <a16:creationId xmlns:a16="http://schemas.microsoft.com/office/drawing/2014/main" id="{F72C9DF9-B755-4E5D-B8CB-C2C418E3C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04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파일럿 · 보안</a:t>
            </a:r>
          </a:p>
        </p:txBody>
      </p:sp>
      <p:sp>
        <p:nvSpPr>
          <p:cNvPr id="16" name="roadmap-body-2">
            <a:extLst xmlns:a="http://schemas.openxmlformats.org/drawingml/2006/main">
              <a:ext uri="{FF2B5EF4-FFF2-40B4-BE49-F238E27FC236}">
                <a16:creationId xmlns:a16="http://schemas.microsoft.com/office/drawing/2014/main" id="{6125CAAD-442C-40FB-ADDD-426D53E85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771900"/>
            <a:ext cx="33337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2 testnet integrations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각 ≥20 disposable payments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external contract review</a:t>
            </a:r>
          </a:p>
        </p:txBody>
      </p:sp>
      <p:sp>
        <p:nvSpPr>
          <p:cNvPr id="17" name="roadmap-kpi-bg">
            <a:extLst xmlns:a="http://schemas.openxmlformats.org/drawingml/2006/main">
              <a:ext uri="{FF2B5EF4-FFF2-40B4-BE49-F238E27FC236}">
                <a16:creationId xmlns:a16="http://schemas.microsoft.com/office/drawing/2014/main" id="{87B7F115-BAA4-4D79-993F-CAF00F510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oadmap-kpi-label">
            <a:extLst xmlns:a="http://schemas.openxmlformats.org/drawingml/2006/main">
              <a:ext uri="{FF2B5EF4-FFF2-40B4-BE49-F238E27FC236}">
                <a16:creationId xmlns:a16="http://schemas.microsoft.com/office/drawing/2014/main" id="{FF2CD198-A816-4CCA-B8D1-08E189E9B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9115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rPr>
              <a:t>PILOT DECISION GATE</a:t>
            </a:r>
          </a:p>
        </p:txBody>
      </p:sp>
      <p:sp>
        <p:nvSpPr>
          <p:cNvPr id="19" name="roadmap-kpi">
            <a:extLst xmlns:a="http://schemas.openxmlformats.org/drawingml/2006/main">
              <a:ext uri="{FF2B5EF4-FFF2-40B4-BE49-F238E27FC236}">
                <a16:creationId xmlns:a16="http://schemas.microsoft.com/office/drawing/2014/main" id="{2E852D7F-642F-4A59-9957-D21AF5D02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5372100"/>
            <a:ext cx="904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canonical receipt 성공률 ≥95%* · setup time · receipt latency · 단계별 실패 분류</a:t>
            </a:r>
          </a:p>
        </p:txBody>
      </p:sp>
      <p:sp>
        <p:nvSpPr>
          <p:cNvPr id="20" name="roadmap-kpi-note">
            <a:extLst xmlns:a="http://schemas.openxmlformats.org/drawingml/2006/main">
              <a:ext uri="{FF2B5EF4-FFF2-40B4-BE49-F238E27FC236}">
                <a16:creationId xmlns:a16="http://schemas.microsoft.com/office/drawing/2014/main" id="{0E323E08-23AE-493C-9BD1-53423ED75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5715000"/>
            <a:ext cx="887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661"/>
                </a:solidFill>
                <a:latin typeface="Apple SD Gothic Neo"/>
                <a:ea typeface="Apple SD Gothic Neo"/>
                <a:cs typeface="Apple SD Gothic Neo"/>
              </a:rPr>
              <a:t>* 성공한 onchain payments가 합의된 test window 안에 기대한 canonical receipt를 만드는 비율. 현재 성과가 아닌 파일럿 gate.</a:t>
            </a:r>
          </a:p>
        </p:txBody>
      </p:sp>
      <p:sp>
        <p:nvSpPr>
          <p:cNvPr id="21" name="footer-label-7">
            <a:extLst xmlns:a="http://schemas.openxmlformats.org/drawingml/2006/main">
              <a:ext uri="{FF2B5EF4-FFF2-40B4-BE49-F238E27FC236}">
                <a16:creationId xmlns:a16="http://schemas.microsoft.com/office/drawing/2014/main" id="{7D59038B-2985-4B8F-A939-7DD2EB77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627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5F66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661"/>
                </a:solidFill>
                <a:latin typeface="Helvetica Neue"/>
                <a:ea typeface="Helvetica Neue"/>
                <a:cs typeface="Helvetica Neue"/>
              </a:rPr>
              <a:t>GIWAPAY · GASOK</a:t>
            </a:r>
          </a:p>
        </p:txBody>
      </p:sp>
      <p:sp>
        <p:nvSpPr>
          <p:cNvPr id="22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1A635CF3-3CA8-4891-89BF-05FAB6613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5F66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661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494878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lose-eyebrow">
            <a:extLst xmlns:a="http://schemas.openxmlformats.org/drawingml/2006/main">
              <a:ext uri="{FF2B5EF4-FFF2-40B4-BE49-F238E27FC236}">
                <a16:creationId xmlns:a16="http://schemas.microsoft.com/office/drawing/2014/main" id="{08BB38D3-955B-4F93-A9FF-6536CCE8C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rPr>
              <a:t>GASOK DECISION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2005C197-685F-44AC-B5F5-87A542197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09700"/>
            <a:ext cx="90487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buNone/>
              <a:defRPr sz="49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9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GiwaPay를 GIWA의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49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9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‘실제로 쓸 수 있는 결제’로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49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9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증명하겠습니다</a:t>
            </a:r>
          </a:p>
        </p:txBody>
      </p:sp>
      <p:sp>
        <p:nvSpPr>
          <p:cNvPr id="3" name="close-rule">
            <a:extLst xmlns:a="http://schemas.openxmlformats.org/drawingml/2006/main">
              <a:ext uri="{FF2B5EF4-FFF2-40B4-BE49-F238E27FC236}">
                <a16:creationId xmlns:a16="http://schemas.microsoft.com/office/drawing/2014/main" id="{3741DF44-E6B8-432D-ABED-2B6E89462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386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0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lose-team-label">
            <a:extLst xmlns:a="http://schemas.openxmlformats.org/drawingml/2006/main">
              <a:ext uri="{FF2B5EF4-FFF2-40B4-BE49-F238E27FC236}">
                <a16:creationId xmlns:a16="http://schemas.microsoft.com/office/drawing/2014/main" id="{6B0CE559-0FCF-4A92-AADE-55783CDA5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1965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rPr>
              <a:t>TEAM</a:t>
            </a:r>
          </a:p>
        </p:txBody>
      </p:sp>
      <p:sp>
        <p:nvSpPr>
          <p:cNvPr id="5" name="close-team">
            <a:extLst xmlns:a="http://schemas.openxmlformats.org/drawingml/2006/main">
              <a:ext uri="{FF2B5EF4-FFF2-40B4-BE49-F238E27FC236}">
                <a16:creationId xmlns:a16="http://schemas.microsoft.com/office/drawing/2014/main" id="{F1AE9F49-398E-4CC2-B602-79829E810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006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070A0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70A08"/>
                </a:solidFill>
                <a:latin typeface="Helvetica Neue"/>
                <a:ea typeface="Helvetica Neue"/>
                <a:cs typeface="Helvetica Neue"/>
              </a:rPr>
              <a:t>Product &amp; engineering · public profile pending</a:t>
            </a:r>
          </a:p>
        </p:txBody>
      </p:sp>
      <p:sp>
        <p:nvSpPr>
          <p:cNvPr id="6" name="close-ask-label">
            <a:extLst xmlns:a="http://schemas.openxmlformats.org/drawingml/2006/main">
              <a:ext uri="{FF2B5EF4-FFF2-40B4-BE49-F238E27FC236}">
                <a16:creationId xmlns:a16="http://schemas.microsoft.com/office/drawing/2014/main" id="{4B95EFA0-9C6D-4FF0-8FB1-CA9E6FB65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95900"/>
            <a:ext cx="1028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13D29"/>
                </a:solidFill>
                <a:latin typeface="Helvetica Neue"/>
                <a:ea typeface="Helvetica Neue"/>
                <a:cs typeface="Helvetica Neue"/>
              </a:rPr>
              <a:t>GASOK ASK</a:t>
            </a:r>
          </a:p>
        </p:txBody>
      </p:sp>
      <p:sp>
        <p:nvSpPr>
          <p:cNvPr id="7" name="close-ask">
            <a:extLst xmlns:a="http://schemas.openxmlformats.org/drawingml/2006/main">
              <a:ext uri="{FF2B5EF4-FFF2-40B4-BE49-F238E27FC236}">
                <a16:creationId xmlns:a16="http://schemas.microsoft.com/office/drawing/2014/main" id="{4AEDAC2D-0C4F-4466-A6D0-8F8106C1B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25780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70A08"/>
                </a:solidFill>
                <a:latin typeface="Apple SD Gothic Neo"/>
                <a:ea typeface="Apple SD Gothic Neo"/>
                <a:cs typeface="Apple SD Gothic Neo"/>
              </a:rPr>
              <a:t>검증 배포 리뷰  ·  공식 Wallet host 경계  ·  소규모 merchant pilot 연결</a:t>
            </a:r>
          </a:p>
        </p:txBody>
      </p:sp>
      <p:sp>
        <p:nvSpPr>
          <p:cNvPr id="8" name="close-status-bg">
            <a:extLst xmlns:a="http://schemas.openxmlformats.org/drawingml/2006/main">
              <a:ext uri="{FF2B5EF4-FFF2-40B4-BE49-F238E27FC236}">
                <a16:creationId xmlns:a16="http://schemas.microsoft.com/office/drawing/2014/main" id="{F5DEC865-69C0-46F3-B673-79AF19253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972050"/>
            <a:ext cx="2114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0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lose-status-label">
            <a:extLst xmlns:a="http://schemas.openxmlformats.org/drawingml/2006/main">
              <a:ext uri="{FF2B5EF4-FFF2-40B4-BE49-F238E27FC236}">
                <a16:creationId xmlns:a16="http://schemas.microsoft.com/office/drawing/2014/main" id="{CEF2D567-EFB7-4DDB-8CC9-401C64016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14350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7CF6B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7CF6B1"/>
                </a:solidFill>
                <a:latin typeface="Helvetica Neue"/>
                <a:ea typeface="Helvetica Neue"/>
                <a:cs typeface="Helvetica Neue"/>
              </a:rPr>
              <a:t>VERIFIED CONTRACT</a:t>
            </a:r>
          </a:p>
        </p:txBody>
      </p:sp>
      <p:sp>
        <p:nvSpPr>
          <p:cNvPr id="10" name="close-status-value">
            <a:extLst xmlns:a="http://schemas.openxmlformats.org/drawingml/2006/main">
              <a:ext uri="{FF2B5EF4-FFF2-40B4-BE49-F238E27FC236}">
                <a16:creationId xmlns:a16="http://schemas.microsoft.com/office/drawing/2014/main" id="{4D5BBC29-73CA-4896-B4C0-2C9283CA2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391150"/>
            <a:ext cx="1790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PENDING</a:t>
            </a:r>
          </a:p>
        </p:txBody>
      </p:sp>
      <p:sp>
        <p:nvSpPr>
          <p:cNvPr id="11" name="close-link">
            <a:extLst xmlns:a="http://schemas.openxmlformats.org/drawingml/2006/main">
              <a:ext uri="{FF2B5EF4-FFF2-40B4-BE49-F238E27FC236}">
                <a16:creationId xmlns:a16="http://schemas.microsoft.com/office/drawing/2014/main" id="{B2E11C60-08E5-4079-B152-D82A6FC5D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198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5F66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F6661"/>
                </a:solidFill>
                <a:latin typeface="Helvetica Neue"/>
                <a:ea typeface="Helvetica Neue"/>
                <a:cs typeface="Helvetica Neue"/>
              </a:rPr>
              <a:t>giwapay-mvp.eomyunsig.chatgpt.site  ·  github.com/eomyunsig-debug/giwapay</a:t>
            </a:r>
          </a:p>
        </p:txBody>
      </p:sp>
    </p:spTree>
    <p:extLst>
      <p:ext uri="{BB962C8B-B14F-4D97-AF65-F5344CB8AC3E}">
        <p14:creationId xmlns:p14="http://schemas.microsoft.com/office/powerpoint/2010/main" val="1533800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2026-07-30T07:35:25.8180000Z</dcterms:created>
  <dcterms:modified xsi:type="dcterms:W3CDTF">2026-07-30T07:35:25.8180000Z</dcterms:modified>
</coreProperties>
</file>