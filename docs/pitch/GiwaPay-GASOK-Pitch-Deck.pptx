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6d9491b8d34560" /><Relationship Type="http://schemas.openxmlformats.org/officeDocument/2006/relationships/extended-properties" Target="/docProps/app.xml" Id="Rd099803c14f445c0" /><Relationship Type="http://schemas.openxmlformats.org/officeDocument/2006/relationships/officeDocument" Target="/ppt/presentation.xml" Id="Rc375fc83b8a6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dac444b0cb42d5"/>
  </p:sldMasterIdLst>
  <p:notesMasterIdLst>
    <p:notesMasterId xmlns:r="http://schemas.openxmlformats.org/officeDocument/2006/relationships" r:id="R3f8c9ebd4e8141ca"/>
  </p:notesMasterIdLst>
  <p:sldIdLst>
    <p:sldId xmlns:r="http://schemas.openxmlformats.org/officeDocument/2006/relationships" id="256" r:id="Rfe289e0895434cae"/>
    <p:sldId xmlns:r="http://schemas.openxmlformats.org/officeDocument/2006/relationships" id="257" r:id="R1305ff10d1604f48"/>
    <p:sldId xmlns:r="http://schemas.openxmlformats.org/officeDocument/2006/relationships" id="258" r:id="Ref0f862e40734ee5"/>
    <p:sldId xmlns:r="http://schemas.openxmlformats.org/officeDocument/2006/relationships" id="259" r:id="R3221764f751b495c"/>
    <p:sldId xmlns:r="http://schemas.openxmlformats.org/officeDocument/2006/relationships" id="260" r:id="R1915daec4d684aff"/>
    <p:sldId xmlns:r="http://schemas.openxmlformats.org/officeDocument/2006/relationships" id="261" r:id="Rd2e2ed724c654063"/>
    <p:sldId xmlns:r="http://schemas.openxmlformats.org/officeDocument/2006/relationships" id="262" r:id="R637df474eb1d4f57"/>
    <p:sldId xmlns:r="http://schemas.openxmlformats.org/officeDocument/2006/relationships" id="263" r:id="R186fc8fd928a41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42ade950ba4c92" /><Relationship Type="http://schemas.openxmlformats.org/officeDocument/2006/relationships/slideMaster" Target="/ppt/slideMasters/slideMaster1.xml" Id="Rc4dac444b0cb42d5" /><Relationship Type="http://schemas.openxmlformats.org/officeDocument/2006/relationships/notesMaster" Target="/ppt/notesMasters/notesMaster1.xml" Id="R3f8c9ebd4e8141ca" /><Relationship Type="http://schemas.openxmlformats.org/officeDocument/2006/relationships/presProps" Target="/ppt/presProps.xml" Id="R993f809065374c25" /><Relationship Type="http://schemas.openxmlformats.org/officeDocument/2006/relationships/tableStyles" Target="/ppt/tableStyles.xml" Id="R8c2d77d56dd94280" /><Relationship Type="http://schemas.openxmlformats.org/officeDocument/2006/relationships/slide" Target="/ppt/slides/slide1.xml" Id="Rfe289e0895434cae" /><Relationship Type="http://schemas.openxmlformats.org/officeDocument/2006/relationships/slide" Target="/ppt/slides/slide2.xml" Id="R1305ff10d1604f48" /><Relationship Type="http://schemas.openxmlformats.org/officeDocument/2006/relationships/slide" Target="/ppt/slides/slide3.xml" Id="Ref0f862e40734ee5" /><Relationship Type="http://schemas.openxmlformats.org/officeDocument/2006/relationships/slide" Target="/ppt/slides/slide4.xml" Id="R3221764f751b495c" /><Relationship Type="http://schemas.openxmlformats.org/officeDocument/2006/relationships/slide" Target="/ppt/slides/slide5.xml" Id="R1915daec4d684aff" /><Relationship Type="http://schemas.openxmlformats.org/officeDocument/2006/relationships/slide" Target="/ppt/slides/slide6.xml" Id="Rd2e2ed724c654063" /><Relationship Type="http://schemas.openxmlformats.org/officeDocument/2006/relationships/slide" Target="/ppt/slides/slide7.xml" Id="R637df474eb1d4f57" /><Relationship Type="http://schemas.openxmlformats.org/officeDocument/2006/relationships/slide" Target="/ppt/slides/slide8.xml" Id="R186fc8fd928a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bcb7561dcd48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112bdb8c9842b5" /><Relationship Type="http://schemas.openxmlformats.org/officeDocument/2006/relationships/notesMaster" Target="/ppt/notesMasters/notesMaster1.xml" Id="Rd689bbddedb24c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98c945201c4adc" /><Relationship Type="http://schemas.openxmlformats.org/officeDocument/2006/relationships/notesMaster" Target="/ppt/notesMasters/notesMaster1.xml" Id="R8aa7ac1562e440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be618190c142f3" /><Relationship Type="http://schemas.openxmlformats.org/officeDocument/2006/relationships/notesMaster" Target="/ppt/notesMasters/notesMaster1.xml" Id="Rd6c008d5365b4a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35fc0c2f504130" /><Relationship Type="http://schemas.openxmlformats.org/officeDocument/2006/relationships/notesMaster" Target="/ppt/notesMasters/notesMaster1.xml" Id="R62619f5966a2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37de9de1464ba7" /><Relationship Type="http://schemas.openxmlformats.org/officeDocument/2006/relationships/notesMaster" Target="/ppt/notesMasters/notesMaster1.xml" Id="R3a2bd2999b6548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d14dd392524beb" /><Relationship Type="http://schemas.openxmlformats.org/officeDocument/2006/relationships/notesMaster" Target="/ppt/notesMasters/notesMaster1.xml" Id="R5a072dc2d60746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83bc5ecd544db8" /><Relationship Type="http://schemas.openxmlformats.org/officeDocument/2006/relationships/notesMaster" Target="/ppt/notesMasters/notesMaster1.xml" Id="Rcec2495f321d4e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6206b337e843aa" /><Relationship Type="http://schemas.openxmlformats.org/officeDocument/2006/relationships/notesMaster" Target="/ppt/notesMasters/notesMaster1.xml" Id="R077ecff5c3af4a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문장은 제품 약속입니다. 동시에 공개 쇼케이스가 비거래형이며, 실제 GIWA 배포를 아직 주장하지 않는다는 경계를 짚습니다.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https://giwapay-mvp.eomyunsig.chatgpt.site</a:t>
            </a:r>
          </a:p>
          <a:p xmlns:a="http://schemas.openxmlformats.org/drawingml/2006/main">
            <a:r>
              <a:t>- https://github.com/eomyunsig-debug/giwapay/blob/main/README.md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문제는 결제 자산 선택이 아니라 정확한 정산과 성공 판정입니다. 수탁 없이 이 문제를 해결하려면 실행과 검증을 하나의 제품 흐름으로 묶어야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https://github.com/eomyunsig-debug/giwapay/blob/main/README.md</a:t>
            </a:r>
          </a:p>
          <a:p xmlns:a="http://schemas.openxmlformats.org/drawingml/2006/main">
            <a:r>
              <a:t>- https://github.com/eomyunsig-debug/giwapay/blob/main/docs/architecture.md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단계만 기억하면 됩니다. 판매자가 조건을 서명하고, 고객이 직접 실행하며, 독립 인덱서가 canonical 사실을 확인합니다. 트랜잭션 사이에 GiwaPay 잔액은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https://github.com/eomyunsig-debug/giwapay/blob/main/docs/architecture.md</a:t>
            </a:r>
          </a:p>
          <a:p xmlns:a="http://schemas.openxmlformats.org/drawingml/2006/main">
            <a:r>
              <a:t>- https://github.com/eomyunsig-debug/giwapay/blob/main/README.md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Flashblocks는 제출 체감을 개선할 수 있지만 정산 finality로 사용하지 않습니다. GIWA Wallet은 공식 인터페이스가 공개되기 전까지 제안 경계이며, Dojang과 up.id도 결제 실행과 분리합니다.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https://docs.giwa.io/get-started/connect-to-giwa</a:t>
            </a:r>
          </a:p>
          <a:p xmlns:a="http://schemas.openxmlformats.org/drawingml/2006/main">
            <a:r>
              <a:t>- https://docs.giwa.io/network-information/transaction-fees</a:t>
            </a:r>
          </a:p>
          <a:p xmlns:a="http://schemas.openxmlformats.org/drawingml/2006/main">
            <a:r>
              <a:t>- https://docs.giwa.io/giwa-ecosystem/dojang</a:t>
            </a:r>
          </a:p>
          <a:p xmlns:a="http://schemas.openxmlformats.org/drawingml/2006/main">
            <a:r>
              <a:t>- https://docs.giwa.io/giwa-ecosystem/up-id</a:t>
            </a:r>
          </a:p>
          <a:p xmlns:a="http://schemas.openxmlformats.org/drawingml/2006/main">
            <a:r>
              <a:t>- https://github.com/eomyunsig-debug/giwapay/blob/main/docs/giwa-wallet-embedded-mode.md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저장소에서 재현 가능한 구현입니다. 오른쪽은 GASOK 제출 전 완료해야 하는 하드 게이트입니다. 테스트 자동화는 외부 감사로 표현하지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https://github.com/eomyunsig-debug/giwapay</a:t>
            </a:r>
          </a:p>
          <a:p xmlns:a="http://schemas.openxmlformats.org/drawingml/2006/main">
            <a:r>
              <a:t>- https://github.com/eomyunsig-debug/giwapay/blob/main/docs/testing.md</a:t>
            </a:r>
          </a:p>
          <a:p xmlns:a="http://schemas.openxmlformats.org/drawingml/2006/main">
            <a:r>
              <a:t>- https://github.com/eomyunsig-debug/giwapay/blob/main/docs/deployment.md</a:t>
            </a:r>
          </a:p>
          <a:p xmlns:a="http://schemas.openxmlformats.org/drawingml/2006/main">
            <a:r>
              <a:t>- https://sepolia-explorer.giwa.io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1.9621조원은 거시 참고 기준이며 GiwaPay TAM으로 사용하지 않습니다. 평가자가 보는 세 숫자는 현재 traction이 아니라 Phase 3에서 관찰할 목표입니다.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https://mods.go.kr/boardDownload.es?bid=241&amp;list_no=443337&amp;seq=1</a:t>
            </a:r>
          </a:p>
          <a:p xmlns:a="http://schemas.openxmlformats.org/drawingml/2006/main">
            <a:r>
              <a:t>- https://github.com/eomyunsig-debug/giwapay/blob/main/docs/market-opportunity.md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순서를 바꾸지 않습니다. 제출 전에는 검증 계약, Phase 3 초반에는 수요와 Wallet 경계, 후반에는 실제 테스트넷 운영과 외부 계약 리뷰를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https://github.com/eomyunsig-debug/giwapay/blob/main/docs/market-opportunity.md</a:t>
            </a:r>
          </a:p>
          <a:p xmlns:a="http://schemas.openxmlformats.org/drawingml/2006/main">
            <a:r>
              <a:t>- https://github.com/eomyunsig-debug/giwapay/blob/main/docs/giwa-wallet-embedded-mode.md</a:t>
            </a:r>
          </a:p>
          <a:p xmlns:a="http://schemas.openxmlformats.org/drawingml/2006/main">
            <a:r>
              <a:t>- https://github.com/eomyunsig-debug/giwapay/blob/main/docs/testing.md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요청은 세 가지입니다. 검증 배포를 함께 확인하고, 공식 Wallet host 경계를 합의하며, 작은 merchant pilot로 실제 결제 데이터를 만들겠습니다.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https://giwapay-mvp.eomyunsig.chatgpt.site</a:t>
            </a:r>
          </a:p>
          <a:p xmlns:a="http://schemas.openxmlformats.org/drawingml/2006/main">
            <a:r>
              <a:t>- https://github.com/eomyunsig-debug/giwapay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15dd3309d44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145402f4ef4ff2" /><Relationship Type="http://schemas.openxmlformats.org/officeDocument/2006/relationships/slideLayout" Target="/ppt/slideLayouts/slideLayout1.xml" Id="R478e3485ec6d41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e3485ec6d41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f220a73544fff" /><Relationship Type="http://schemas.openxmlformats.org/officeDocument/2006/relationships/image" Target="/ppt/media/image.png" Id="R6c95fd26c2634391" /><Relationship Type="http://schemas.openxmlformats.org/officeDocument/2006/relationships/notesSlide" Target="/ppt/notesSlides/notesSlide1.xml" Id="R94f9f2d2f5b247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e1dd914dc4ddf" /><Relationship Type="http://schemas.openxmlformats.org/officeDocument/2006/relationships/notesSlide" Target="/ppt/notesSlides/notesSlide2.xml" Id="R75f9ed74b27d40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90f40606f47ad" /><Relationship Type="http://schemas.openxmlformats.org/officeDocument/2006/relationships/notesSlide" Target="/ppt/notesSlides/notesSlide3.xml" Id="R5de27925372c41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3ef0bf7124f6d" /><Relationship Type="http://schemas.openxmlformats.org/officeDocument/2006/relationships/notesSlide" Target="/ppt/notesSlides/notesSlide4.xml" Id="R5e16e1a9e52c44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f1c9be0ae4bfb" /><Relationship Type="http://schemas.openxmlformats.org/officeDocument/2006/relationships/notesSlide" Target="/ppt/notesSlides/notesSlide5.xml" Id="R9f03ecc0c3cb42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e042a04384774" /><Relationship Type="http://schemas.openxmlformats.org/officeDocument/2006/relationships/notesSlide" Target="/ppt/notesSlides/notesSlide6.xml" Id="R87b8ad2e72c74c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b85885fa84271" /><Relationship Type="http://schemas.openxmlformats.org/officeDocument/2006/relationships/notesSlide" Target="/ppt/notesSlides/notesSlide7.xml" Id="Re05d8b0ae4984c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31f03830f414b" /><Relationship Type="http://schemas.openxmlformats.org/officeDocument/2006/relationships/notesSlide" Target="/ppt/notesSlides/notesSlide8.xml" Id="R0ee09bc1d82e4a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C4D9ABB-ADCF-48E0-8ACC-66A4EA35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GASOK · MASS ADOPTION · 2026</a:t>
            </a:r>
          </a:p>
        </p:txBody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E0109867-6EB2-40EB-840B-DA26A8CF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rPr>
              <a:t>GiwaPay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7C3909B-2C2B-4E9F-A80F-236ED312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143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고객은 가진 자산으로,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판매자는 정확한 금액으로.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D65C4B1-FE5A-43B7-83E6-BDFECDD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비수탁 결제 링크 · 원자적 정산 · canonical event 영수증</a:t>
            </a:r>
          </a:p>
        </p:txBody>
      </p:sp>
      <p:sp>
        <p:nvSpPr>
          <p:cNvPr id="5" name="cover-status-bg">
            <a:extLst xmlns:a="http://schemas.openxmlformats.org/drawingml/2006/main">
              <a:ext uri="{FF2B5EF4-FFF2-40B4-BE49-F238E27FC236}">
                <a16:creationId xmlns:a16="http://schemas.microsoft.com/office/drawing/2014/main" id="{8EDE8D3F-0B4D-42EA-8076-9B25952D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3486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376980C2-F9A2-4E3F-A833-B153769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3D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3D29"/>
                </a:solidFill>
                <a:latin typeface="Apple SD Gothic Neo"/>
                <a:ea typeface="Apple SD Gothic Neo"/>
                <a:cs typeface="Apple SD Gothic Neo"/>
              </a:rPr>
              <a:t>GIWA Sepolia · 테스트넷 MVP</a:t>
            </a:r>
          </a:p>
        </p:txBody>
      </p:sp>
      <p:sp>
        <p:nvSpPr>
          <p:cNvPr id="7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AA5F67BA-3A43-4DC5-9707-5807A6A4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공개 쇼케이스는 비거래형입니다. live GIWA 계약은 제출 전 검증이 필요합니다.</a:t>
            </a:r>
          </a:p>
        </p:txBody>
      </p:sp>
      <p:sp>
        <p:nvSpPr>
          <p:cNvPr id="8" name="cover-image-bg">
            <a:extLst xmlns:a="http://schemas.openxmlformats.org/drawingml/2006/main">
              <a:ext uri="{FF2B5EF4-FFF2-40B4-BE49-F238E27FC236}">
                <a16:creationId xmlns:a16="http://schemas.microsoft.com/office/drawing/2014/main" id="{3B59B1FF-27C2-4B27-99EA-06177D8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"/>
            <a:ext cx="554355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070A0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5fd26c2634391"/>
          <a:stretch xmlns:a="http://schemas.openxmlformats.org/drawingml/2006/main"/>
        </p:blipFill>
        <p:spPr>
          <a:xfrm xmlns:a="http://schemas.openxmlformats.org/drawingml/2006/main">
            <a:off x="6191250" y="1506141"/>
            <a:ext cx="5543550" cy="34647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2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3595C31-7045-43EE-AAAE-A42A26DB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결제보다 어려운 것은 정확한 정산과 증명입니다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88AD9559-7D78-4BF2-B077-A782EBDC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판매자의 운영 문제는 지갑 버튼을 추가하는 것만으로 끝나지 않습니다.</a:t>
            </a:r>
          </a:p>
        </p:txBody>
      </p:sp>
      <p:sp>
        <p:nvSpPr>
          <p:cNvPr id="3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475FD293-088D-4E92-B176-FC993D88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left-kicker">
            <a:extLst xmlns:a="http://schemas.openxmlformats.org/drawingml/2006/main">
              <a:ext uri="{FF2B5EF4-FFF2-40B4-BE49-F238E27FC236}">
                <a16:creationId xmlns:a16="http://schemas.microsoft.com/office/drawing/2014/main" id="{6C8F620A-58BA-4215-A3DC-168E9F73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ASSET MISMATCH</a:t>
            </a:r>
          </a:p>
        </p:txBody>
      </p:sp>
      <p:sp>
        <p:nvSpPr>
          <p:cNvPr id="5" name="problem-left-message">
            <a:extLst xmlns:a="http://schemas.openxmlformats.org/drawingml/2006/main">
              <a:ext uri="{FF2B5EF4-FFF2-40B4-BE49-F238E27FC236}">
                <a16:creationId xmlns:a16="http://schemas.microsoft.com/office/drawing/2014/main" id="{B3AC11FB-6655-4909-9A2C-FABDE3E7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고객이 가진 자산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≠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판매자가 받을 자산</a:t>
            </a:r>
          </a:p>
        </p:txBody>
      </p:sp>
      <p:sp>
        <p:nvSpPr>
          <p:cNvPr id="6" name="problem-left-consequence">
            <a:extLst xmlns:a="http://schemas.openxmlformats.org/drawingml/2006/main">
              <a:ext uri="{FF2B5EF4-FFF2-40B4-BE49-F238E27FC236}">
                <a16:creationId xmlns:a16="http://schemas.microsoft.com/office/drawing/2014/main" id="{83DA91F7-9F48-4516-B16D-CB93DE77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라우팅, 최대 입력액, 수수료, 분할 정산과 미사용 입력 환불을 한 조건으로 묶어야 합니다.</a:t>
            </a:r>
          </a:p>
        </p:txBody>
      </p:sp>
      <p:sp>
        <p:nvSpPr>
          <p:cNvPr id="7" name="problem-vertical-rule">
            <a:extLst xmlns:a="http://schemas.openxmlformats.org/drawingml/2006/main">
              <a:ext uri="{FF2B5EF4-FFF2-40B4-BE49-F238E27FC236}">
                <a16:creationId xmlns:a16="http://schemas.microsoft.com/office/drawing/2014/main" id="{005C7CF4-D909-4830-AA0C-F14ACD9E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66900"/>
            <a:ext cx="9525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risk-num-0">
            <a:extLst xmlns:a="http://schemas.openxmlformats.org/drawingml/2006/main">
              <a:ext uri="{FF2B5EF4-FFF2-40B4-BE49-F238E27FC236}">
                <a16:creationId xmlns:a16="http://schemas.microsoft.com/office/drawing/2014/main" id="{0DA6D1BF-6A08-4EAC-8E40-45CA4641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problem-risk-title-0">
            <a:extLst xmlns:a="http://schemas.openxmlformats.org/drawingml/2006/main">
              <a:ext uri="{FF2B5EF4-FFF2-40B4-BE49-F238E27FC236}">
                <a16:creationId xmlns:a16="http://schemas.microsoft.com/office/drawing/2014/main" id="{C6AB4A6D-2337-4F6B-A419-FD687177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해시 제출 ≠ 결제 성공</a:t>
            </a:r>
          </a:p>
        </p:txBody>
      </p:sp>
      <p:sp>
        <p:nvSpPr>
          <p:cNvPr id="10" name="problem-risk-body-0">
            <a:extLst xmlns:a="http://schemas.openxmlformats.org/drawingml/2006/main">
              <a:ext uri="{FF2B5EF4-FFF2-40B4-BE49-F238E27FC236}">
                <a16:creationId xmlns:a16="http://schemas.microsoft.com/office/drawing/2014/main" id="{D1548F74-9C59-42DA-BD6F-8C448BE8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브라우저 콜백은 canonical 이벤트를 증명하지 못합니다.</a:t>
            </a:r>
          </a:p>
        </p:txBody>
      </p:sp>
      <p:sp>
        <p:nvSpPr>
          <p:cNvPr id="11" name="problem-risk-rule-0">
            <a:extLst xmlns:a="http://schemas.openxmlformats.org/drawingml/2006/main">
              <a:ext uri="{FF2B5EF4-FFF2-40B4-BE49-F238E27FC236}">
                <a16:creationId xmlns:a16="http://schemas.microsoft.com/office/drawing/2014/main" id="{71752EC7-371A-43AC-B986-90CCECA7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risk-num-1">
            <a:extLst xmlns:a="http://schemas.openxmlformats.org/drawingml/2006/main">
              <a:ext uri="{FF2B5EF4-FFF2-40B4-BE49-F238E27FC236}">
                <a16:creationId xmlns:a16="http://schemas.microsoft.com/office/drawing/2014/main" id="{703B61AF-447A-449E-AE33-F7B606E1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problem-risk-title-1">
            <a:extLst xmlns:a="http://schemas.openxmlformats.org/drawingml/2006/main">
              <a:ext uri="{FF2B5EF4-FFF2-40B4-BE49-F238E27FC236}">
                <a16:creationId xmlns:a16="http://schemas.microsoft.com/office/drawing/2014/main" id="{E778C8BC-DFB6-4614-8B95-CCE97EFC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부분 성공은 정산 실패</a:t>
            </a:r>
          </a:p>
        </p:txBody>
      </p:sp>
      <p:sp>
        <p:nvSpPr>
          <p:cNvPr id="14" name="problem-risk-body-1">
            <a:extLst xmlns:a="http://schemas.openxmlformats.org/drawingml/2006/main">
              <a:ext uri="{FF2B5EF4-FFF2-40B4-BE49-F238E27FC236}">
                <a16:creationId xmlns:a16="http://schemas.microsoft.com/office/drawing/2014/main" id="{1FE6AD91-2CEF-41BA-BC69-F450310C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576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교환·수수료·분배·환불이 따로 움직이면 금액이 어긋납니다.</a:t>
            </a:r>
          </a:p>
        </p:txBody>
      </p:sp>
      <p:sp>
        <p:nvSpPr>
          <p:cNvPr id="15" name="problem-risk-rule-1">
            <a:extLst xmlns:a="http://schemas.openxmlformats.org/drawingml/2006/main">
              <a:ext uri="{FF2B5EF4-FFF2-40B4-BE49-F238E27FC236}">
                <a16:creationId xmlns:a16="http://schemas.microsoft.com/office/drawing/2014/main" id="{7B6F6F00-4A8D-4E27-BF5D-1FBF2ED0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risk-num-2">
            <a:extLst xmlns:a="http://schemas.openxmlformats.org/drawingml/2006/main">
              <a:ext uri="{FF2B5EF4-FFF2-40B4-BE49-F238E27FC236}">
                <a16:creationId xmlns:a16="http://schemas.microsoft.com/office/drawing/2014/main" id="{CED1F7C6-D139-48D8-B9A5-B0DA14D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problem-risk-title-2">
            <a:extLst xmlns:a="http://schemas.openxmlformats.org/drawingml/2006/main">
              <a:ext uri="{FF2B5EF4-FFF2-40B4-BE49-F238E27FC236}">
                <a16:creationId xmlns:a16="http://schemas.microsoft.com/office/drawing/2014/main" id="{D400BB0D-8FB7-4633-B5F1-DEF08F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수탁 잔액은 부담 확대</a:t>
            </a:r>
          </a:p>
        </p:txBody>
      </p:sp>
      <p:sp>
        <p:nvSpPr>
          <p:cNvPr id="18" name="problem-risk-body-2">
            <a:extLst xmlns:a="http://schemas.openxmlformats.org/drawingml/2006/main">
              <a:ext uri="{FF2B5EF4-FFF2-40B4-BE49-F238E27FC236}">
                <a16:creationId xmlns:a16="http://schemas.microsoft.com/office/drawing/2014/main" id="{A6AD8FC9-5FCB-4A42-AFC1-666A8AF5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149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중간 잔액은 키 관리·운영·규제 경계를 더 복잡하게 만듭니다.</a:t>
            </a:r>
          </a:p>
        </p:txBody>
      </p:sp>
      <p:sp>
        <p:nvSpPr>
          <p:cNvPr id="19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504A9A84-39D3-48C8-B062-85481AF2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GIWAPAY · GASOK</a:t>
            </a:r>
          </a:p>
        </p:txBody>
      </p:sp>
      <p:sp>
        <p:nvSpPr>
          <p:cNvPr id="2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A6D5E36-FEBA-4CEC-A999-806B2B7F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1867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3F0C094-2131-4617-85D1-FD54D3B9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서명 → 실행 → canonical 검증으로 결제를 증명합니다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18E21FF0-AFCC-4947-B9FE-1E2A1869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성공은 버튼이 아니라 체인 증거가 결정합니다.</a:t>
            </a:r>
          </a:p>
        </p:txBody>
      </p:sp>
      <p:sp>
        <p:nvSpPr>
          <p:cNvPr id="3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05FFF35B-633E-4668-81DB-96D9097F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lution-connector-1">
            <a:extLst xmlns:a="http://schemas.openxmlformats.org/drawingml/2006/main">
              <a:ext uri="{FF2B5EF4-FFF2-40B4-BE49-F238E27FC236}">
                <a16:creationId xmlns:a16="http://schemas.microsoft.com/office/drawing/2014/main" id="{FAED2DE0-A016-4A63-B4E2-8BC25E2E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95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lution-connector-2">
            <a:extLst xmlns:a="http://schemas.openxmlformats.org/drawingml/2006/main">
              <a:ext uri="{FF2B5EF4-FFF2-40B4-BE49-F238E27FC236}">
                <a16:creationId xmlns:a16="http://schemas.microsoft.com/office/drawing/2014/main" id="{DF52EFAC-31D8-41D7-A30C-F451C20E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lution-node-0">
            <a:extLst xmlns:a="http://schemas.openxmlformats.org/drawingml/2006/main">
              <a:ext uri="{FF2B5EF4-FFF2-40B4-BE49-F238E27FC236}">
                <a16:creationId xmlns:a16="http://schemas.microsoft.com/office/drawing/2014/main" id="{DF7F5B0C-C01E-4292-B310-F9EE20C2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86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lution-node-number-0">
            <a:extLst xmlns:a="http://schemas.openxmlformats.org/drawingml/2006/main">
              <a:ext uri="{FF2B5EF4-FFF2-40B4-BE49-F238E27FC236}">
                <a16:creationId xmlns:a16="http://schemas.microsoft.com/office/drawing/2014/main" id="{EFBBE3D7-11BC-4E43-93C6-B9B94EF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solution-node-1">
            <a:extLst xmlns:a="http://schemas.openxmlformats.org/drawingml/2006/main">
              <a:ext uri="{FF2B5EF4-FFF2-40B4-BE49-F238E27FC236}">
                <a16:creationId xmlns:a16="http://schemas.microsoft.com/office/drawing/2014/main" id="{070B5A12-C664-496C-8741-6F8C5802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86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lution-node-number-1">
            <a:extLst xmlns:a="http://schemas.openxmlformats.org/drawingml/2006/main">
              <a:ext uri="{FF2B5EF4-FFF2-40B4-BE49-F238E27FC236}">
                <a16:creationId xmlns:a16="http://schemas.microsoft.com/office/drawing/2014/main" id="{46CBE70C-8A1C-44C1-A93A-EE33C762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solution-node-2">
            <a:extLst xmlns:a="http://schemas.openxmlformats.org/drawingml/2006/main">
              <a:ext uri="{FF2B5EF4-FFF2-40B4-BE49-F238E27FC236}">
                <a16:creationId xmlns:a16="http://schemas.microsoft.com/office/drawing/2014/main" id="{177EC261-E77D-4F73-84ED-AF033373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F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lution-node-number-2">
            <a:extLst xmlns:a="http://schemas.openxmlformats.org/drawingml/2006/main">
              <a:ext uri="{FF2B5EF4-FFF2-40B4-BE49-F238E27FC236}">
                <a16:creationId xmlns:a16="http://schemas.microsoft.com/office/drawing/2014/main" id="{884D6B7F-99E4-413A-B3B7-19AD285F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solution-step-title-0">
            <a:extLst xmlns:a="http://schemas.openxmlformats.org/drawingml/2006/main">
              <a:ext uri="{FF2B5EF4-FFF2-40B4-BE49-F238E27FC236}">
                <a16:creationId xmlns:a16="http://schemas.microsoft.com/office/drawing/2014/main" id="{806253C7-24F9-450F-AF4E-CE66D4A7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판매자가 조건을 고정</a:t>
            </a:r>
          </a:p>
        </p:txBody>
      </p:sp>
      <p:sp>
        <p:nvSpPr>
          <p:cNvPr id="13" name="solution-step-body-0">
            <a:extLst xmlns:a="http://schemas.openxmlformats.org/drawingml/2006/main">
              <a:ext uri="{FF2B5EF4-FFF2-40B4-BE49-F238E27FC236}">
                <a16:creationId xmlns:a16="http://schemas.microsoft.com/office/drawing/2014/main" id="{7DF967AE-869C-4737-91FA-CAF23BAB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EIP-712 PaymentIntent에 정산 토큰·정확 금액·수령인·수수료·만료·splitHash를 묶습니다.</a:t>
            </a:r>
          </a:p>
        </p:txBody>
      </p:sp>
      <p:sp>
        <p:nvSpPr>
          <p:cNvPr id="14" name="solution-step-title-1">
            <a:extLst xmlns:a="http://schemas.openxmlformats.org/drawingml/2006/main">
              <a:ext uri="{FF2B5EF4-FFF2-40B4-BE49-F238E27FC236}">
                <a16:creationId xmlns:a16="http://schemas.microsoft.com/office/drawing/2014/main" id="{9B2B6F9F-B413-4EFC-893C-3F2B015F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고객이 직접 실행</a:t>
            </a:r>
          </a:p>
        </p:txBody>
      </p:sp>
      <p:sp>
        <p:nvSpPr>
          <p:cNvPr id="15" name="solution-step-body-1">
            <a:extLst xmlns:a="http://schemas.openxmlformats.org/drawingml/2006/main">
              <a:ext uri="{FF2B5EF4-FFF2-40B4-BE49-F238E27FC236}">
                <a16:creationId xmlns:a16="http://schemas.microsoft.com/office/drawing/2014/main" id="{3A7CE41F-4025-4E7D-87CF-560F6AEC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예상액과 최대 입력액을 확인하고, 필요할 때만 승인한 뒤 PaymentRouter를 호출합니다.</a:t>
            </a:r>
          </a:p>
        </p:txBody>
      </p:sp>
      <p:sp>
        <p:nvSpPr>
          <p:cNvPr id="16" name="solution-step-title-2">
            <a:extLst xmlns:a="http://schemas.openxmlformats.org/drawingml/2006/main">
              <a:ext uri="{FF2B5EF4-FFF2-40B4-BE49-F238E27FC236}">
                <a16:creationId xmlns:a16="http://schemas.microsoft.com/office/drawing/2014/main" id="{CB3C1349-9779-4902-A699-668137C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체인이 성공을 판정</a:t>
            </a:r>
          </a:p>
        </p:txBody>
      </p:sp>
      <p:sp>
        <p:nvSpPr>
          <p:cNvPr id="17" name="solution-step-body-2">
            <a:extLst xmlns:a="http://schemas.openxmlformats.org/drawingml/2006/main">
              <a:ext uri="{FF2B5EF4-FFF2-40B4-BE49-F238E27FC236}">
                <a16:creationId xmlns:a16="http://schemas.microsoft.com/office/drawing/2014/main" id="{182F3E52-B09D-4A0D-8A61-29C8C5E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인덱서가 canonical 이벤트와 실제 분배를 검증한 뒤에만 영수증과 웹훅을 만듭니다.</a:t>
            </a:r>
          </a:p>
        </p:txBody>
      </p:sp>
      <p:sp>
        <p:nvSpPr>
          <p:cNvPr id="18" name="solution-zero-balance-bg">
            <a:extLst xmlns:a="http://schemas.openxmlformats.org/drawingml/2006/main">
              <a:ext uri="{FF2B5EF4-FFF2-40B4-BE49-F238E27FC236}">
                <a16:creationId xmlns:a16="http://schemas.microsoft.com/office/drawing/2014/main" id="{3DC289D7-0B49-431D-B1C2-BFF9E8E0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olution-zero-balance">
            <a:extLst xmlns:a="http://schemas.openxmlformats.org/drawingml/2006/main">
              <a:ext uri="{FF2B5EF4-FFF2-40B4-BE49-F238E27FC236}">
                <a16:creationId xmlns:a16="http://schemas.microsoft.com/office/drawing/2014/main" id="{A785EB72-D4CC-4D7F-83BB-8A50AAB6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GiwaPay balance = 0  ·  결제·선택적 교환·수수료·분배·잔돈 환불은 모두 실행되거나 모두 되돌아갑니다</a:t>
            </a:r>
          </a:p>
        </p:txBody>
      </p:sp>
      <p:sp>
        <p:nvSpPr>
          <p:cNvPr id="20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A38EE101-2A74-4B9B-BEA0-FE73E810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GIWAPAY · GASOK</a:t>
            </a:r>
          </a:p>
        </p:txBody>
      </p:sp>
      <p:sp>
        <p:nvSpPr>
          <p:cNvPr id="2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17999305-C31F-459C-B57B-ABC5F31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377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AC46C8C-F221-492B-8096-73DC7C5E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GIWA는 빠른 체감과 검증된 정산을 함께 설계하게 합니다</a:t>
            </a:r>
          </a:p>
        </p:txBody>
      </p:sp>
      <p:sp>
        <p:nvSpPr>
          <p:cNvPr id="2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D3B2DFB5-5FFE-470D-9179-A32FAF6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현재 기능, 향후 Wallet 표면, 정산의 진실을 분리해 구현합니다.</a:t>
            </a:r>
          </a:p>
        </p:txBody>
      </p:sp>
      <p:sp>
        <p:nvSpPr>
          <p:cNvPr id="3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0ACEEC41-F0CF-411F-867C-B596977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iwa-label-0">
            <a:extLst xmlns:a="http://schemas.openxmlformats.org/drawingml/2006/main">
              <a:ext uri="{FF2B5EF4-FFF2-40B4-BE49-F238E27FC236}">
                <a16:creationId xmlns:a16="http://schemas.microsoft.com/office/drawing/2014/main" id="{12F01045-CF0B-4730-A38F-3B50E49B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PRECONFIRMATION</a:t>
            </a:r>
          </a:p>
        </p:txBody>
      </p:sp>
      <p:sp>
        <p:nvSpPr>
          <p:cNvPr id="5" name="giwa-title-0">
            <a:extLst xmlns:a="http://schemas.openxmlformats.org/drawingml/2006/main">
              <a:ext uri="{FF2B5EF4-FFF2-40B4-BE49-F238E27FC236}">
                <a16:creationId xmlns:a16="http://schemas.microsoft.com/office/drawing/2014/main" id="{6BA747CA-C4DE-41E9-AFF0-582229D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Flashblocks</a:t>
            </a:r>
          </a:p>
        </p:txBody>
      </p:sp>
      <p:sp>
        <p:nvSpPr>
          <p:cNvPr id="6" name="giwa-rule-0">
            <a:extLst xmlns:a="http://schemas.openxmlformats.org/drawingml/2006/main">
              <a:ext uri="{FF2B5EF4-FFF2-40B4-BE49-F238E27FC236}">
                <a16:creationId xmlns:a16="http://schemas.microsoft.com/office/drawing/2014/main" id="{2ACC085B-5390-46D9-BBBB-51124C96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iwa-body-0">
            <a:extLst xmlns:a="http://schemas.openxmlformats.org/drawingml/2006/main">
              <a:ext uri="{FF2B5EF4-FFF2-40B4-BE49-F238E27FC236}">
                <a16:creationId xmlns:a16="http://schemas.microsoft.com/office/drawing/2014/main" id="{E9156867-2857-4764-9B03-699F0BDE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제출 직후 체감 피드백을 빠르게 만들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사전확인이지 finality는 아닙니다.</a:t>
            </a:r>
          </a:p>
        </p:txBody>
      </p:sp>
      <p:sp>
        <p:nvSpPr>
          <p:cNvPr id="8" name="giwa-label-1">
            <a:extLst xmlns:a="http://schemas.openxmlformats.org/drawingml/2006/main">
              <a:ext uri="{FF2B5EF4-FFF2-40B4-BE49-F238E27FC236}">
                <a16:creationId xmlns:a16="http://schemas.microsoft.com/office/drawing/2014/main" id="{39973A33-1BA0-48FF-8497-E1612CD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PAYMENT SURFACE</a:t>
            </a:r>
          </a:p>
        </p:txBody>
      </p:sp>
      <p:sp>
        <p:nvSpPr>
          <p:cNvPr id="9" name="giwa-title-1">
            <a:extLst xmlns:a="http://schemas.openxmlformats.org/drawingml/2006/main">
              <a:ext uri="{FF2B5EF4-FFF2-40B4-BE49-F238E27FC236}">
                <a16:creationId xmlns:a16="http://schemas.microsoft.com/office/drawing/2014/main" id="{25003FC3-28D3-42AA-BC7D-1565131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14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GIWA Wallet</a:t>
            </a:r>
          </a:p>
        </p:txBody>
      </p:sp>
      <p:sp>
        <p:nvSpPr>
          <p:cNvPr id="10" name="giwa-rule-1">
            <a:extLst xmlns:a="http://schemas.openxmlformats.org/drawingml/2006/main">
              <a:ext uri="{FF2B5EF4-FFF2-40B4-BE49-F238E27FC236}">
                <a16:creationId xmlns:a16="http://schemas.microsoft.com/office/drawing/2014/main" id="{6FF92CA2-CFC9-4F40-A572-EFB642A5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iwa-body-1">
            <a:extLst xmlns:a="http://schemas.openxmlformats.org/drawingml/2006/main">
              <a:ext uri="{FF2B5EF4-FFF2-40B4-BE49-F238E27FC236}">
                <a16:creationId xmlns:a16="http://schemas.microsoft.com/office/drawing/2014/main" id="{3D664ACB-6E29-4C84-AA5A-AED9DBD0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provider·account·chain handoff로 반복 연결 화면을 줄이는 인앱 결제 경계를 제안합니다.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공식 SDK 전까지 proposal입니다.</a:t>
            </a:r>
          </a:p>
        </p:txBody>
      </p:sp>
      <p:sp>
        <p:nvSpPr>
          <p:cNvPr id="12" name="giwa-label-2">
            <a:extLst xmlns:a="http://schemas.openxmlformats.org/drawingml/2006/main">
              <a:ext uri="{FF2B5EF4-FFF2-40B4-BE49-F238E27FC236}">
                <a16:creationId xmlns:a16="http://schemas.microsoft.com/office/drawing/2014/main" id="{45622FE0-57DD-45E4-9D91-9175859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TRUST SIGNAL</a:t>
            </a:r>
          </a:p>
        </p:txBody>
      </p:sp>
      <p:sp>
        <p:nvSpPr>
          <p:cNvPr id="13" name="giwa-title-2">
            <a:extLst xmlns:a="http://schemas.openxmlformats.org/drawingml/2006/main">
              <a:ext uri="{FF2B5EF4-FFF2-40B4-BE49-F238E27FC236}">
                <a16:creationId xmlns:a16="http://schemas.microsoft.com/office/drawing/2014/main" id="{0241DCC7-2284-409C-9FC6-4BDFCA74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14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Dojang · up.id</a:t>
            </a:r>
          </a:p>
        </p:txBody>
      </p:sp>
      <p:sp>
        <p:nvSpPr>
          <p:cNvPr id="14" name="giwa-rule-2">
            <a:extLst xmlns:a="http://schemas.openxmlformats.org/drawingml/2006/main">
              <a:ext uri="{FF2B5EF4-FFF2-40B4-BE49-F238E27FC236}">
                <a16:creationId xmlns:a16="http://schemas.microsoft.com/office/drawing/2014/main" id="{458D44A8-ADD9-4C5A-BC77-73BDF9CD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iwa-body-2">
            <a:extLst xmlns:a="http://schemas.openxmlformats.org/drawingml/2006/main">
              <a:ext uri="{FF2B5EF4-FFF2-40B4-BE49-F238E27FC236}">
                <a16:creationId xmlns:a16="http://schemas.microsoft.com/office/drawing/2014/main" id="{E59F293C-58AE-4E7B-A749-B03898AD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결제 실행과 분리된 merchant identity signal로 확장할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파트너십이나 결제 성공을 뜻하지 않습니다.</a:t>
            </a:r>
          </a:p>
        </p:txBody>
      </p:sp>
      <p:sp>
        <p:nvSpPr>
          <p:cNvPr id="16" name="giwa-truth-bg">
            <a:extLst xmlns:a="http://schemas.openxmlformats.org/drawingml/2006/main">
              <a:ext uri="{FF2B5EF4-FFF2-40B4-BE49-F238E27FC236}">
                <a16:creationId xmlns:a16="http://schemas.microsoft.com/office/drawing/2014/main" id="{592284B9-C709-4A46-A00C-0F15B97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iwa-truth">
            <a:extLst xmlns:a="http://schemas.openxmlformats.org/drawingml/2006/main">
              <a:ext uri="{FF2B5EF4-FFF2-40B4-BE49-F238E27FC236}">
                <a16:creationId xmlns:a16="http://schemas.microsoft.com/office/drawing/2014/main" id="{6D52A819-C8F6-4FED-9F7B-B14D614E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3D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3D29"/>
                </a:solidFill>
                <a:latin typeface="Apple SD Gothic Neo"/>
                <a:ea typeface="Apple SD Gothic Neo"/>
                <a:cs typeface="Apple SD Gothic Neo"/>
              </a:rPr>
              <a:t>정산의 진실 = confirmation-aware indexer가 확인한 canonical event</a:t>
            </a:r>
          </a:p>
        </p:txBody>
      </p:sp>
      <p:sp>
        <p:nvSpPr>
          <p:cNvPr id="1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D02A4DB9-7906-4D4D-A0FD-91B07D9D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GIWAPAY · GASOK</a:t>
            </a:r>
          </a:p>
        </p:txBody>
      </p:sp>
      <p:sp>
        <p:nvSpPr>
          <p:cNvPr id="1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31D98F5-C606-4F93-A8AC-C946F44A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9327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8BDCDD9-4DC4-4628-AC3D-88386894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구현된 스택과 아직 남은 하드 게이트를 분리했습니다</a:t>
            </a:r>
          </a:p>
        </p:txBody>
      </p:sp>
      <p:sp>
        <p:nvSpPr>
          <p:cNvPr id="2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BE7A7EB6-6EE2-4370-BEF9-2FB4F5DA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코드의 깊이는 증거로, 미배포 상태는 경계로 보여줍니다.</a:t>
            </a:r>
          </a:p>
        </p:txBody>
      </p:sp>
      <p:sp>
        <p:nvSpPr>
          <p:cNvPr id="3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8FFF33AD-53DF-495C-8741-198F363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0DA6A686-B41D-4A82-9373-D7012598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IMPLEMENTED · REPRODUCIBLE</a:t>
            </a:r>
          </a:p>
        </p:txBody>
      </p:sp>
      <p:sp>
        <p:nvSpPr>
          <p:cNvPr id="5" name="evidence-num-0">
            <a:extLst xmlns:a="http://schemas.openxmlformats.org/drawingml/2006/main">
              <a:ext uri="{FF2B5EF4-FFF2-40B4-BE49-F238E27FC236}">
                <a16:creationId xmlns:a16="http://schemas.microsoft.com/office/drawing/2014/main" id="{8D7EFC6F-6B6E-4FE4-ADC9-F1D0C6E2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69FB5503-9429-44CF-A59A-E81B000E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Solidity</a:t>
            </a:r>
          </a:p>
        </p:txBody>
      </p:sp>
      <p:sp>
        <p:nvSpPr>
          <p:cNvPr id="7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8F2844B0-6585-4494-BE4A-A5FED145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MerchantRegistry · AdapterRegistry · non-upgradeable PaymentRouter</a:t>
            </a:r>
          </a:p>
        </p:txBody>
      </p:sp>
      <p:sp>
        <p:nvSpPr>
          <p:cNvPr id="8" name="evidence-row-rule-0">
            <a:extLst xmlns:a="http://schemas.openxmlformats.org/drawingml/2006/main">
              <a:ext uri="{FF2B5EF4-FFF2-40B4-BE49-F238E27FC236}">
                <a16:creationId xmlns:a16="http://schemas.microsoft.com/office/drawing/2014/main" id="{871AFD50-680D-4B14-BDF6-5EEE1ADF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idence-num-1">
            <a:extLst xmlns:a="http://schemas.openxmlformats.org/drawingml/2006/main">
              <a:ext uri="{FF2B5EF4-FFF2-40B4-BE49-F238E27FC236}">
                <a16:creationId xmlns:a16="http://schemas.microsoft.com/office/drawing/2014/main" id="{4617C4DD-3BBD-4AC3-BFBA-7CD52367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3115C103-1A08-4407-84A0-17AC6E63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Application</a:t>
            </a:r>
          </a:p>
        </p:txBody>
      </p:sp>
      <p:sp>
        <p:nvSpPr>
          <p:cNvPr id="11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A5D6C100-B2D6-4FFF-883F-A922BDB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813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Fastify API · EIP-712 · SIWE/ERC-1271 · PostgreSQL</a:t>
            </a:r>
          </a:p>
        </p:txBody>
      </p:sp>
      <p:sp>
        <p:nvSpPr>
          <p:cNvPr id="12" name="evidence-row-rule-1">
            <a:extLst xmlns:a="http://schemas.openxmlformats.org/drawingml/2006/main">
              <a:ext uri="{FF2B5EF4-FFF2-40B4-BE49-F238E27FC236}">
                <a16:creationId xmlns:a16="http://schemas.microsoft.com/office/drawing/2014/main" id="{F199B2FD-1506-40FD-82B9-0B757FC6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idence-num-2">
            <a:extLst xmlns:a="http://schemas.openxmlformats.org/drawingml/2006/main">
              <a:ext uri="{FF2B5EF4-FFF2-40B4-BE49-F238E27FC236}">
                <a16:creationId xmlns:a16="http://schemas.microsoft.com/office/drawing/2014/main" id="{D943722A-B0C9-4551-97F0-B5DF8F3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3C669CA6-84F8-4752-B281-F6F3A153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Truth layer</a:t>
            </a:r>
          </a:p>
        </p:txBody>
      </p:sp>
      <p:sp>
        <p:nvSpPr>
          <p:cNvPr id="15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C45A4CD0-6543-4C76-BE2B-10D9B9FB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052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confirmation-aware indexer · reorg rollback · verified split snapshot</a:t>
            </a:r>
          </a:p>
        </p:txBody>
      </p:sp>
      <p:sp>
        <p:nvSpPr>
          <p:cNvPr id="16" name="evidence-row-rule-2">
            <a:extLst xmlns:a="http://schemas.openxmlformats.org/drawingml/2006/main">
              <a:ext uri="{FF2B5EF4-FFF2-40B4-BE49-F238E27FC236}">
                <a16:creationId xmlns:a16="http://schemas.microsoft.com/office/drawing/2014/main" id="{A83B4CED-D343-4F84-91E3-8CF9D785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668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num-3">
            <a:extLst xmlns:a="http://schemas.openxmlformats.org/drawingml/2006/main">
              <a:ext uri="{FF2B5EF4-FFF2-40B4-BE49-F238E27FC236}">
                <a16:creationId xmlns:a16="http://schemas.microsoft.com/office/drawing/2014/main" id="{7D9F971C-DF1E-4E4C-8680-AF0F70FC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8255B8E9-9355-4198-8F06-14ECC12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Product &amp; QA</a:t>
            </a:r>
          </a:p>
        </p:txBody>
      </p:sp>
      <p:sp>
        <p:nvSpPr>
          <p:cNvPr id="19" name="evidence-body-3">
            <a:extLst xmlns:a="http://schemas.openxmlformats.org/drawingml/2006/main">
              <a:ext uri="{FF2B5EF4-FFF2-40B4-BE49-F238E27FC236}">
                <a16:creationId xmlns:a16="http://schemas.microsoft.com/office/drawing/2014/main" id="{D0B47428-E509-42AC-A5CA-568B365A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291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checkout · dashboard · SDK · webhooks · local Anvil · CI</a:t>
            </a:r>
          </a:p>
        </p:txBody>
      </p:sp>
      <p:sp>
        <p:nvSpPr>
          <p:cNvPr id="20" name="hard-gate-panel">
            <a:extLst xmlns:a="http://schemas.openxmlformats.org/drawingml/2006/main">
              <a:ext uri="{FF2B5EF4-FFF2-40B4-BE49-F238E27FC236}">
                <a16:creationId xmlns:a16="http://schemas.microsoft.com/office/drawing/2014/main" id="{543FC94B-BD9B-4D20-85FC-23E7880C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43100"/>
            <a:ext cx="41719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ard-gate-kicker">
            <a:extLst xmlns:a="http://schemas.openxmlformats.org/drawingml/2006/main">
              <a:ext uri="{FF2B5EF4-FFF2-40B4-BE49-F238E27FC236}">
                <a16:creationId xmlns:a16="http://schemas.microsoft.com/office/drawing/2014/main" id="{0CBAABEC-9F16-471A-B6E7-07264B5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CF6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F6B1"/>
                </a:solidFill>
                <a:latin typeface="Helvetica Neue"/>
                <a:ea typeface="Helvetica Neue"/>
                <a:cs typeface="Helvetica Neue"/>
              </a:rPr>
              <a:t>PENDING HARD GATE</a:t>
            </a:r>
          </a:p>
        </p:txBody>
      </p:sp>
      <p:sp>
        <p:nvSpPr>
          <p:cNvPr id="22" name="hard-gate-title">
            <a:extLst xmlns:a="http://schemas.openxmlformats.org/drawingml/2006/main">
              <a:ext uri="{FF2B5EF4-FFF2-40B4-BE49-F238E27FC236}">
                <a16:creationId xmlns:a16="http://schemas.microsoft.com/office/drawing/2014/main" id="{ED11B886-46B7-4566-B588-963AB00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3600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검증된 GIWA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테스트넷 계약</a:t>
            </a:r>
          </a:p>
        </p:txBody>
      </p:sp>
      <p:sp>
        <p:nvSpPr>
          <p:cNvPr id="23" name="hard-gate-body">
            <a:extLst xmlns:a="http://schemas.openxmlformats.org/drawingml/2006/main">
              <a:ext uri="{FF2B5EF4-FFF2-40B4-BE49-F238E27FC236}">
                <a16:creationId xmlns:a16="http://schemas.microsoft.com/office/drawing/2014/main" id="{5C30FD2D-DB4C-4767-960F-4FD56F26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600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1. production-mode 배포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2. GIWA Explorer 소스 검증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3. 주소·tx·commit 공개 manifest</a:t>
            </a:r>
          </a:p>
        </p:txBody>
      </p:sp>
      <p:sp>
        <p:nvSpPr>
          <p:cNvPr id="24" name="hard-gate-disclaimer">
            <a:extLst xmlns:a="http://schemas.openxmlformats.org/drawingml/2006/main">
              <a:ext uri="{FF2B5EF4-FFF2-40B4-BE49-F238E27FC236}">
                <a16:creationId xmlns:a16="http://schemas.microsoft.com/office/drawing/2014/main" id="{B2071D5C-91E9-4D70-9EFD-DCF2D23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E4E8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4E8E5"/>
                </a:solidFill>
                <a:latin typeface="Apple SD Gothic Neo"/>
                <a:ea typeface="Apple SD Gothic Neo"/>
                <a:cs typeface="Apple SD Gothic Neo"/>
              </a:rPr>
              <a:t>현재 live 주소·공식 Wallet 연동·외부 보안감사는 주장하지 않습니다.</a:t>
            </a:r>
          </a:p>
        </p:txBody>
      </p:sp>
      <p:sp>
        <p:nvSpPr>
          <p:cNvPr id="25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DA0356B8-C7DC-41AA-94A8-644566E9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GIWAPAY · GASOK</a:t>
            </a:r>
          </a:p>
        </p:txBody>
      </p:sp>
      <p:sp>
        <p:nvSpPr>
          <p:cNvPr id="2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A8D055F5-634D-4156-A367-455186F4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2074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B908FA6-3C2C-494F-976B-112AF160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시장성은 큰 TAM이 아니라 8주 관찰값으로 줄입니다</a:t>
            </a:r>
          </a:p>
        </p:txBody>
      </p:sp>
      <p:sp>
        <p:nvSpPr>
          <p:cNvPr id="2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6020CC0B-4619-4845-B11B-92FAAD05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참고 시장과 현재 증거, Phase 3 목표를 같은 숫자로 섞지 않습니다.</a:t>
            </a:r>
          </a:p>
        </p:txBody>
      </p:sp>
      <p:sp>
        <p:nvSpPr>
          <p:cNvPr id="3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D8E68399-9018-46B0-9174-3AB1C485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rket-reference">
            <a:extLst xmlns:a="http://schemas.openxmlformats.org/drawingml/2006/main">
              <a:ext uri="{FF2B5EF4-FFF2-40B4-BE49-F238E27FC236}">
                <a16:creationId xmlns:a16="http://schemas.microsoft.com/office/drawing/2014/main" id="{6574B574-9876-443F-8EA5-8B4EAAFD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2025 비면세 온라인 해외직접판매 1.9621조원은 넓은 참고 기준일 뿐,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GiwaPay의 TAM·획득 가능 시장·현재 GMV가 아닙니다.</a:t>
            </a:r>
          </a:p>
        </p:txBody>
      </p:sp>
      <p:sp>
        <p:nvSpPr>
          <p:cNvPr id="5" name="market-panel-0">
            <a:extLst xmlns:a="http://schemas.openxmlformats.org/drawingml/2006/main">
              <a:ext uri="{FF2B5EF4-FFF2-40B4-BE49-F238E27FC236}">
                <a16:creationId xmlns:a16="http://schemas.microsoft.com/office/drawing/2014/main" id="{3A0A5D05-A238-40D5-A160-6C07A71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3467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rket-stat-0">
            <a:extLst xmlns:a="http://schemas.openxmlformats.org/drawingml/2006/main">
              <a:ext uri="{FF2B5EF4-FFF2-40B4-BE49-F238E27FC236}">
                <a16:creationId xmlns:a16="http://schemas.microsoft.com/office/drawing/2014/main" id="{9E106667-9C6A-46AB-8000-BAF71C42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7" name="market-title-0">
            <a:extLst xmlns:a="http://schemas.openxmlformats.org/drawingml/2006/main">
              <a:ext uri="{FF2B5EF4-FFF2-40B4-BE49-F238E27FC236}">
                <a16:creationId xmlns:a16="http://schemas.microsoft.com/office/drawing/2014/main" id="{EE381BF5-E47E-4335-9963-2F925085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판매자 문제 인터뷰</a:t>
            </a:r>
          </a:p>
        </p:txBody>
      </p:sp>
      <p:sp>
        <p:nvSpPr>
          <p:cNvPr id="8" name="market-body-0">
            <a:extLst xmlns:a="http://schemas.openxmlformats.org/drawingml/2006/main">
              <a:ext uri="{FF2B5EF4-FFF2-40B4-BE49-F238E27FC236}">
                <a16:creationId xmlns:a16="http://schemas.microsoft.com/office/drawing/2014/main" id="{89FBED31-15FD-4BD8-B0F1-D07FAE57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적합 merchant 비중과 정산 pain 확인</a:t>
            </a:r>
          </a:p>
        </p:txBody>
      </p:sp>
      <p:sp>
        <p:nvSpPr>
          <p:cNvPr id="9" name="market-panel-1">
            <a:extLst xmlns:a="http://schemas.openxmlformats.org/drawingml/2006/main">
              <a:ext uri="{FF2B5EF4-FFF2-40B4-BE49-F238E27FC236}">
                <a16:creationId xmlns:a16="http://schemas.microsoft.com/office/drawing/2014/main" id="{2CD821B2-BBB7-4CBC-8C84-41C11C24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3467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A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rket-stat-1">
            <a:extLst xmlns:a="http://schemas.openxmlformats.org/drawingml/2006/main">
              <a:ext uri="{FF2B5EF4-FFF2-40B4-BE49-F238E27FC236}">
                <a16:creationId xmlns:a16="http://schemas.microsoft.com/office/drawing/2014/main" id="{8DAF28BE-7B69-4AC0-A94E-6430FA09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market-title-1">
            <a:extLst xmlns:a="http://schemas.openxmlformats.org/drawingml/2006/main">
              <a:ext uri="{FF2B5EF4-FFF2-40B4-BE49-F238E27FC236}">
                <a16:creationId xmlns:a16="http://schemas.microsoft.com/office/drawing/2014/main" id="{42E7F32B-A49D-49A5-A49F-102024E7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서면 파일럿 관심</a:t>
            </a:r>
          </a:p>
        </p:txBody>
      </p:sp>
      <p:sp>
        <p:nvSpPr>
          <p:cNvPr id="12" name="market-body-1">
            <a:extLst xmlns:a="http://schemas.openxmlformats.org/drawingml/2006/main">
              <a:ext uri="{FF2B5EF4-FFF2-40B4-BE49-F238E27FC236}">
                <a16:creationId xmlns:a16="http://schemas.microsoft.com/office/drawing/2014/main" id="{E0F2DE50-56F7-4874-96AE-DE972DDA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672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실제 도입 의향을 문서로 검증</a:t>
            </a:r>
          </a:p>
        </p:txBody>
      </p:sp>
      <p:sp>
        <p:nvSpPr>
          <p:cNvPr id="13" name="market-panel-2">
            <a:extLst xmlns:a="http://schemas.openxmlformats.org/drawingml/2006/main">
              <a:ext uri="{FF2B5EF4-FFF2-40B4-BE49-F238E27FC236}">
                <a16:creationId xmlns:a16="http://schemas.microsoft.com/office/drawing/2014/main" id="{DDBB0F29-9257-4E0F-A96F-5957D029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467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rket-stat-2">
            <a:extLst xmlns:a="http://schemas.openxmlformats.org/drawingml/2006/main">
              <a:ext uri="{FF2B5EF4-FFF2-40B4-BE49-F238E27FC236}">
                <a16:creationId xmlns:a16="http://schemas.microsoft.com/office/drawing/2014/main" id="{94A408CA-AFAC-4583-A835-CEFC577C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market-title-2">
            <a:extLst xmlns:a="http://schemas.openxmlformats.org/drawingml/2006/main">
              <a:ext uri="{FF2B5EF4-FFF2-40B4-BE49-F238E27FC236}">
                <a16:creationId xmlns:a16="http://schemas.microsoft.com/office/drawing/2014/main" id="{2DB025E3-D4B1-47BE-A019-9C36975F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테스트넷 통합</a:t>
            </a:r>
          </a:p>
        </p:txBody>
      </p:sp>
      <p:sp>
        <p:nvSpPr>
          <p:cNvPr id="16" name="market-body-2">
            <a:extLst xmlns:a="http://schemas.openxmlformats.org/drawingml/2006/main">
              <a:ext uri="{FF2B5EF4-FFF2-40B4-BE49-F238E27FC236}">
                <a16:creationId xmlns:a16="http://schemas.microsoft.com/office/drawing/2014/main" id="{7E35B9E2-361A-48C5-8408-4B0150B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672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직접토큰 경로로 운영 가능성 측정</a:t>
            </a:r>
          </a:p>
        </p:txBody>
      </p:sp>
      <p:sp>
        <p:nvSpPr>
          <p:cNvPr id="17" name="market-zero">
            <a:extLst xmlns:a="http://schemas.openxmlformats.org/drawingml/2006/main">
              <a:ext uri="{FF2B5EF4-FFF2-40B4-BE49-F238E27FC236}">
                <a16:creationId xmlns:a16="http://schemas.microsoft.com/office/drawing/2014/main" id="{89AD7E13-8387-4C5F-9AC7-BDB93BF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현재 실적: 인터뷰 0 · 서면 관심 0 · merchant 통합 0  /  위 숫자는 Phase 3 목표입니다.</a:t>
            </a:r>
          </a:p>
        </p:txBody>
      </p:sp>
      <p:sp>
        <p:nvSpPr>
          <p:cNvPr id="1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E3F6E0A3-9533-4709-ABE6-4E2729B0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GIWAPAY · GASOK</a:t>
            </a:r>
          </a:p>
        </p:txBody>
      </p:sp>
      <p:sp>
        <p:nvSpPr>
          <p:cNvPr id="1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B453B10-5F6B-47DD-9FFF-719787F3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0895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59C63FF-6B6D-4287-90BA-BF3B5C3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8주 뒤에는 결정 가능한 결제 데이터를 냅니다</a:t>
            </a:r>
          </a:p>
        </p:txBody>
      </p:sp>
      <p:sp>
        <p:nvSpPr>
          <p:cNvPr id="2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E7AED1F6-F95B-4E60-969A-99274FC4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먼저 배포 증거, 다음으로 수요와 Wallet 경계, 마지막으로 파일럿과 보안 검토입니다.</a:t>
            </a:r>
          </a:p>
        </p:txBody>
      </p:sp>
      <p:sp>
        <p:nvSpPr>
          <p:cNvPr id="3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607EB87E-8C1A-40D7-9E51-C61C1AA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B616B896-FEBE-4811-B7C3-8B625AD6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admap-node-0">
            <a:extLst xmlns:a="http://schemas.openxmlformats.org/drawingml/2006/main">
              <a:ext uri="{FF2B5EF4-FFF2-40B4-BE49-F238E27FC236}">
                <a16:creationId xmlns:a16="http://schemas.microsoft.com/office/drawing/2014/main" id="{61A6BF2A-1240-4464-984A-B69A597A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F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admap-node-1">
            <a:extLst xmlns:a="http://schemas.openxmlformats.org/drawingml/2006/main">
              <a:ext uri="{FF2B5EF4-FFF2-40B4-BE49-F238E27FC236}">
                <a16:creationId xmlns:a16="http://schemas.microsoft.com/office/drawing/2014/main" id="{D64A660D-5755-48F0-8A84-1E80629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map-node-2">
            <a:extLst xmlns:a="http://schemas.openxmlformats.org/drawingml/2006/main">
              <a:ext uri="{FF2B5EF4-FFF2-40B4-BE49-F238E27FC236}">
                <a16:creationId xmlns:a16="http://schemas.microsoft.com/office/drawing/2014/main" id="{B7425A6D-7A0B-4C82-9F4F-4B7260E8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24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label-0">
            <a:extLst xmlns:a="http://schemas.openxmlformats.org/drawingml/2006/main">
              <a:ext uri="{FF2B5EF4-FFF2-40B4-BE49-F238E27FC236}">
                <a16:creationId xmlns:a16="http://schemas.microsoft.com/office/drawing/2014/main" id="{DCC7C644-05D9-499F-83FB-11C9AE5B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NOW · SUBMISSION GATE</a:t>
            </a:r>
          </a:p>
        </p:txBody>
      </p:sp>
      <p:sp>
        <p:nvSpPr>
          <p:cNvPr id="9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97BAF230-D1F7-40B7-8E68-ECD9D84E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검증 계약</a:t>
            </a:r>
          </a:p>
        </p:txBody>
      </p:sp>
      <p:sp>
        <p:nvSpPr>
          <p:cNvPr id="10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CE215668-CD89-4129-A6D4-6A21E8AA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GIWA Sepolia 배포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Explorer 소스 검증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public manifest</a:t>
            </a:r>
          </a:p>
        </p:txBody>
      </p:sp>
      <p:sp>
        <p:nvSpPr>
          <p:cNvPr id="11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B8C2D55F-BBFC-4350-9F12-B925EA70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WEEK 1–2</a:t>
            </a:r>
          </a:p>
        </p:txBody>
      </p:sp>
      <p:sp>
        <p:nvSpPr>
          <p:cNvPr id="12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4FBE1871-C9A0-4528-A99D-AE99F2EE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0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수요 · Wallet 경계</a:t>
            </a:r>
          </a:p>
        </p:txBody>
      </p:sp>
      <p:sp>
        <p:nvSpPr>
          <p:cNvPr id="13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23374A93-5905-4666-A6C1-F890FCB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7190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15 interviews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3 written interests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official host contract 논의</a:t>
            </a:r>
          </a:p>
        </p:txBody>
      </p:sp>
      <p:sp>
        <p:nvSpPr>
          <p:cNvPr id="14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1D9ADEC1-458D-4049-899C-2CE31D3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WEEK 3–8</a:t>
            </a:r>
          </a:p>
        </p:txBody>
      </p:sp>
      <p:sp>
        <p:nvSpPr>
          <p:cNvPr id="15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6B9B6CF0-157B-4337-AF69-1ECB04C2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파일럿 · 보안</a:t>
            </a:r>
          </a:p>
        </p:txBody>
      </p:sp>
      <p:sp>
        <p:nvSpPr>
          <p:cNvPr id="16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BF26B77B-EF14-46B5-9D7F-2E3BDC7E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2 testnet integrations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각 ≥20 disposable payments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external contract review</a:t>
            </a:r>
          </a:p>
        </p:txBody>
      </p:sp>
      <p:sp>
        <p:nvSpPr>
          <p:cNvPr id="17" name="roadmap-kpi-bg">
            <a:extLst xmlns:a="http://schemas.openxmlformats.org/drawingml/2006/main">
              <a:ext uri="{FF2B5EF4-FFF2-40B4-BE49-F238E27FC236}">
                <a16:creationId xmlns:a16="http://schemas.microsoft.com/office/drawing/2014/main" id="{82917EF7-9285-49E1-AD11-C19F294B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admap-kpi-label">
            <a:extLst xmlns:a="http://schemas.openxmlformats.org/drawingml/2006/main">
              <a:ext uri="{FF2B5EF4-FFF2-40B4-BE49-F238E27FC236}">
                <a16:creationId xmlns:a16="http://schemas.microsoft.com/office/drawing/2014/main" id="{A329FFC6-AD2F-4595-82AE-F84917C0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PILOT DECISION GATE</a:t>
            </a:r>
          </a:p>
        </p:txBody>
      </p:sp>
      <p:sp>
        <p:nvSpPr>
          <p:cNvPr id="19" name="roadmap-kpi">
            <a:extLst xmlns:a="http://schemas.openxmlformats.org/drawingml/2006/main">
              <a:ext uri="{FF2B5EF4-FFF2-40B4-BE49-F238E27FC236}">
                <a16:creationId xmlns:a16="http://schemas.microsoft.com/office/drawing/2014/main" id="{172AB16B-9607-4752-94E8-CC32FCFE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721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canonical receipt 성공률 ≥95%* · setup time · receipt latency · 단계별 실패 분류</a:t>
            </a:r>
          </a:p>
        </p:txBody>
      </p:sp>
      <p:sp>
        <p:nvSpPr>
          <p:cNvPr id="20" name="roadmap-kpi-note">
            <a:extLst xmlns:a="http://schemas.openxmlformats.org/drawingml/2006/main">
              <a:ext uri="{FF2B5EF4-FFF2-40B4-BE49-F238E27FC236}">
                <a16:creationId xmlns:a16="http://schemas.microsoft.com/office/drawing/2014/main" id="{38B74DEC-A8FA-4E40-B9C8-CDE8A205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15000"/>
            <a:ext cx="887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661"/>
                </a:solidFill>
                <a:latin typeface="Apple SD Gothic Neo"/>
                <a:ea typeface="Apple SD Gothic Neo"/>
                <a:cs typeface="Apple SD Gothic Neo"/>
              </a:rPr>
              <a:t>* 성공한 onchain payments가 합의된 test window 안에 기대한 canonical receipt를 만드는 비율. 현재 성과가 아닌 파일럿 gate.</a:t>
            </a:r>
          </a:p>
        </p:txBody>
      </p:sp>
      <p:sp>
        <p:nvSpPr>
          <p:cNvPr id="21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A535E790-5FF3-437E-BF21-6CCCD19F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GIWAPAY · GASOK</a:t>
            </a:r>
          </a:p>
        </p:txBody>
      </p:sp>
      <p:sp>
        <p:nvSpPr>
          <p:cNvPr id="2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BE960AC-11E3-496C-A9CF-EEADA19C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066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AB3B0E3D-6023-4DD0-A4A1-142B982D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GASOK DECISION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629D657-046D-49FB-8F65-5F39CE0D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9048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GiwaPay를 GIWA의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‘실제로 쓸 수 있는 결제’로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증명하겠습니다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0540937B-37AF-4A05-B4CF-885A3B4A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team-label">
            <a:extLst xmlns:a="http://schemas.openxmlformats.org/drawingml/2006/main">
              <a:ext uri="{FF2B5EF4-FFF2-40B4-BE49-F238E27FC236}">
                <a16:creationId xmlns:a16="http://schemas.microsoft.com/office/drawing/2014/main" id="{2211B17E-D732-466E-A83D-5731EEC8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TEAM</a:t>
            </a:r>
          </a:p>
        </p:txBody>
      </p:sp>
      <p:sp>
        <p:nvSpPr>
          <p:cNvPr id="5" name="close-team">
            <a:extLst xmlns:a="http://schemas.openxmlformats.org/drawingml/2006/main">
              <a:ext uri="{FF2B5EF4-FFF2-40B4-BE49-F238E27FC236}">
                <a16:creationId xmlns:a16="http://schemas.microsoft.com/office/drawing/2014/main" id="{F76C3A4C-BF4E-4959-9047-7C91D97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0A08"/>
                </a:solidFill>
                <a:latin typeface="Helvetica Neue"/>
                <a:ea typeface="Helvetica Neue"/>
                <a:cs typeface="Helvetica Neue"/>
              </a:rPr>
              <a:t>Founder-led · product &amp; engineering</a:t>
            </a:r>
          </a:p>
        </p:txBody>
      </p:sp>
      <p:sp>
        <p:nvSpPr>
          <p:cNvPr id="6" name="close-ask-label">
            <a:extLst xmlns:a="http://schemas.openxmlformats.org/drawingml/2006/main">
              <a:ext uri="{FF2B5EF4-FFF2-40B4-BE49-F238E27FC236}">
                <a16:creationId xmlns:a16="http://schemas.microsoft.com/office/drawing/2014/main" id="{A6ED9400-0D59-4001-9BD2-B76FB149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3D29"/>
                </a:solidFill>
                <a:latin typeface="Helvetica Neue"/>
                <a:ea typeface="Helvetica Neue"/>
                <a:cs typeface="Helvetica Neue"/>
              </a:rPr>
              <a:t>GASOK ASK</a:t>
            </a:r>
          </a:p>
        </p:txBody>
      </p:sp>
      <p:sp>
        <p:nvSpPr>
          <p:cNvPr id="7" name="close-ask">
            <a:extLst xmlns:a="http://schemas.openxmlformats.org/drawingml/2006/main">
              <a:ext uri="{FF2B5EF4-FFF2-40B4-BE49-F238E27FC236}">
                <a16:creationId xmlns:a16="http://schemas.microsoft.com/office/drawing/2014/main" id="{F35B2931-C5DC-4285-AD7B-FD7ED831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578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70A08"/>
                </a:solidFill>
                <a:latin typeface="Apple SD Gothic Neo"/>
                <a:ea typeface="Apple SD Gothic Neo"/>
                <a:cs typeface="Apple SD Gothic Neo"/>
              </a:rPr>
              <a:t>검증 배포 리뷰  ·  공식 Wallet host 경계  ·  소규모 merchant pilot 연결</a:t>
            </a:r>
          </a:p>
        </p:txBody>
      </p:sp>
      <p:sp>
        <p:nvSpPr>
          <p:cNvPr id="8" name="close-status-bg">
            <a:extLst xmlns:a="http://schemas.openxmlformats.org/drawingml/2006/main">
              <a:ext uri="{FF2B5EF4-FFF2-40B4-BE49-F238E27FC236}">
                <a16:creationId xmlns:a16="http://schemas.microsoft.com/office/drawing/2014/main" id="{8154AFFC-61DB-4EE4-BAF0-0B725098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7205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e-status-label">
            <a:extLst xmlns:a="http://schemas.openxmlformats.org/drawingml/2006/main">
              <a:ext uri="{FF2B5EF4-FFF2-40B4-BE49-F238E27FC236}">
                <a16:creationId xmlns:a16="http://schemas.microsoft.com/office/drawing/2014/main" id="{62F2CCD9-7446-4AD8-BA5A-E2C214C7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435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7CF6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CF6B1"/>
                </a:solidFill>
                <a:latin typeface="Helvetica Neue"/>
                <a:ea typeface="Helvetica Neue"/>
                <a:cs typeface="Helvetica Neue"/>
              </a:rPr>
              <a:t>VERIFIED CONTRACT</a:t>
            </a:r>
          </a:p>
        </p:txBody>
      </p:sp>
      <p:sp>
        <p:nvSpPr>
          <p:cNvPr id="10" name="close-status-value">
            <a:extLst xmlns:a="http://schemas.openxmlformats.org/drawingml/2006/main">
              <a:ext uri="{FF2B5EF4-FFF2-40B4-BE49-F238E27FC236}">
                <a16:creationId xmlns:a16="http://schemas.microsoft.com/office/drawing/2014/main" id="{F76FCE29-A1F0-4330-A504-F0AEE734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911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PENDING</a:t>
            </a:r>
          </a:p>
        </p:txBody>
      </p:sp>
      <p:sp>
        <p:nvSpPr>
          <p:cNvPr id="11" name="close-link">
            <a:extLst xmlns:a="http://schemas.openxmlformats.org/drawingml/2006/main">
              <a:ext uri="{FF2B5EF4-FFF2-40B4-BE49-F238E27FC236}">
                <a16:creationId xmlns:a16="http://schemas.microsoft.com/office/drawing/2014/main" id="{911BD573-CDB5-4BCA-AA06-2F859A1C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661"/>
                </a:solidFill>
                <a:latin typeface="Helvetica Neue"/>
                <a:ea typeface="Helvetica Neue"/>
                <a:cs typeface="Helvetica Neue"/>
              </a:rPr>
              <a:t>giwapay-mvp.eomyunsig.chatgpt.site  ·  github.com/eomyunsig-debug/giwapay</a:t>
            </a:r>
          </a:p>
        </p:txBody>
      </p:sp>
    </p:spTree>
    <p:extLst>
      <p:ext uri="{BB962C8B-B14F-4D97-AF65-F5344CB8AC3E}">
        <p14:creationId xmlns:p14="http://schemas.microsoft.com/office/powerpoint/2010/main" val="14088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2026-07-30T06:49:05.9600000Z</dcterms:created>
  <dcterms:modified xsi:type="dcterms:W3CDTF">2026-07-30T06:49:05.9600000Z</dcterms:modified>
</coreProperties>
</file>